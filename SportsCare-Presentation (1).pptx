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1018"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278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project is and who will use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slowly, then explain the three problems.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each problem with the feature that solves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six goals in simple words.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has one clear job in the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what the user sees, the logic, and the saved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pages cover the whole journey from injury to return.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clearly that this login is only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statistics and click one bar of the chart.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search and open a profile.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 an exercise and the progress bar moves.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a qualified professional makes the final decision.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Appointments can be edited or cancelled; reports can be printed or exported.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mode and reminders make it feel like a real application.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this demo login is not secure.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to turn this into a real product.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a:effectLst/>
      </p:bgPr>
    </p:bg>
    <p:spTree>
      <p:nvGrpSpPr>
        <p:cNvPr id="1" name=""/>
        <p:cNvGrpSpPr/>
        <p:nvPr/>
      </p:nvGrpSpPr>
      <p:grpSpPr>
        <a:xfrm>
          <a:off x="0" y="0"/>
          <a:ext cx="0" cy="0"/>
          <a:chOff x="0" y="0"/>
          <a:chExt cx="0" cy="0"/>
        </a:xfrm>
      </p:grpSpPr>
      <p:sp>
        <p:nvSpPr>
          <p:cNvPr id="2" name="Shape 0"/>
          <p:cNvSpPr/>
          <p:nvPr/>
        </p:nvSpPr>
        <p:spPr>
          <a:xfrm>
            <a:off x="6583680" y="-914400"/>
            <a:ext cx="3840480" cy="3840480"/>
          </a:xfrm>
          <a:prstGeom prst="ellipse">
            <a:avLst/>
          </a:prstGeom>
          <a:solidFill>
            <a:srgbClr val="14B8A6">
              <a:alpha val="20000"/>
            </a:srgbClr>
          </a:solidFill>
          <a:ln w="12700">
            <a:solidFill>
              <a:srgbClr val="14B8A6">
                <a:alpha val="20000"/>
              </a:srgbClr>
            </a:solidFill>
            <a:prstDash val="solid"/>
          </a:ln>
        </p:spPr>
      </p:sp>
      <p:sp>
        <p:nvSpPr>
          <p:cNvPr id="3" name="Shape 1"/>
          <p:cNvSpPr/>
          <p:nvPr/>
        </p:nvSpPr>
        <p:spPr>
          <a:xfrm>
            <a:off x="7315200" y="3108960"/>
            <a:ext cx="3108960" cy="3108960"/>
          </a:xfrm>
          <a:prstGeom prst="ellipse">
            <a:avLst/>
          </a:prstGeom>
          <a:solidFill>
            <a:srgbClr val="0E7C86">
              <a:alpha val="50000"/>
            </a:srgbClr>
          </a:solidFill>
          <a:ln w="12700">
            <a:solidFill>
              <a:srgbClr val="0E7C86">
                <a:alpha val="50000"/>
              </a:srgbClr>
            </a:solidFill>
            <a:prstDash val="solid"/>
          </a:ln>
        </p:spPr>
      </p:sp>
      <p:sp>
        <p:nvSpPr>
          <p:cNvPr id="4" name="Shape 2"/>
          <p:cNvSpPr/>
          <p:nvPr/>
        </p:nvSpPr>
        <p:spPr>
          <a:xfrm>
            <a:off x="-914400" y="3840480"/>
            <a:ext cx="2377440" cy="2377440"/>
          </a:xfrm>
          <a:prstGeom prst="ellipse">
            <a:avLst/>
          </a:prstGeom>
          <a:solidFill>
            <a:srgbClr val="14B8A6">
              <a:alpha val="15000"/>
            </a:srgbClr>
          </a:solidFill>
          <a:ln w="12700">
            <a:solidFill>
              <a:srgbClr val="14B8A6">
                <a:alpha val="15000"/>
              </a:srgbClr>
            </a:solidFill>
            <a:prstDash val="solid"/>
          </a:ln>
        </p:spPr>
      </p:sp>
      <p:sp>
        <p:nvSpPr>
          <p:cNvPr id="5" name="Shape 3"/>
          <p:cNvSpPr/>
          <p:nvPr/>
        </p:nvSpPr>
        <p:spPr>
          <a:xfrm>
            <a:off x="822960" y="1234440"/>
            <a:ext cx="822960" cy="82296"/>
          </a:xfrm>
          <a:prstGeom prst="rect">
            <a:avLst/>
          </a:prstGeom>
          <a:solidFill>
            <a:srgbClr val="14B8A6"/>
          </a:solidFill>
          <a:ln w="12700">
            <a:solidFill>
              <a:srgbClr val="14B8A6"/>
            </a:solidFill>
            <a:prstDash val="solid"/>
          </a:ln>
        </p:spPr>
      </p:sp>
      <p:sp>
        <p:nvSpPr>
          <p:cNvPr id="6" name="Text 4"/>
          <p:cNvSpPr txBox="1"/>
          <p:nvPr/>
        </p:nvSpPr>
        <p:spPr>
          <a:xfrm>
            <a:off x="822960" y="1463040"/>
            <a:ext cx="6035040" cy="201168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Sports Injury, Rehabilitation &amp; Return-to-Play Management System</a:t>
            </a:r>
            <a:endParaRPr lang="en-US" sz="3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B3C49"/>
          </a:solidFill>
          <a:ln w="12700">
            <a:solidFill>
              <a:srgbClr val="0B3C49"/>
            </a:solidFill>
            <a:prstDash val="solid"/>
          </a:ln>
        </p:spPr>
      </p:sp>
      <p:sp>
        <p:nvSpPr>
          <p:cNvPr id="3" name="Shape 1"/>
          <p:cNvSpPr/>
          <p:nvPr/>
        </p:nvSpPr>
        <p:spPr>
          <a:xfrm>
            <a:off x="-822960" y="3474720"/>
            <a:ext cx="2560320" cy="2560320"/>
          </a:xfrm>
          <a:prstGeom prst="ellipse">
            <a:avLst/>
          </a:prstGeom>
          <a:solidFill>
            <a:srgbClr val="14B8A6">
              <a:alpha val="25000"/>
            </a:srgbClr>
          </a:solidFill>
          <a:ln w="12700">
            <a:solidFill>
              <a:srgbClr val="14B8A6">
                <a:alpha val="25000"/>
              </a:srgbClr>
            </a:solidFill>
            <a:prstDash val="solid"/>
          </a:ln>
        </p:spPr>
      </p:sp>
      <p:sp>
        <p:nvSpPr>
          <p:cNvPr id="4" name="Shape 2"/>
          <p:cNvSpPr/>
          <p:nvPr/>
        </p:nvSpPr>
        <p:spPr>
          <a:xfrm>
            <a:off x="1188720" y="-640080"/>
            <a:ext cx="1645920" cy="1645920"/>
          </a:xfrm>
          <a:prstGeom prst="ellipse">
            <a:avLst/>
          </a:prstGeom>
          <a:solidFill>
            <a:srgbClr val="0E7C86">
              <a:alpha val="60000"/>
            </a:srgbClr>
          </a:solidFill>
          <a:ln w="12700">
            <a:solidFill>
              <a:srgbClr val="0E7C86">
                <a:alpha val="60000"/>
              </a:srgbClr>
            </a:solidFill>
            <a:prstDash val="solid"/>
          </a:ln>
        </p:spPr>
      </p:sp>
      <p:sp>
        <p:nvSpPr>
          <p:cNvPr id="5" name="Shape 3"/>
          <p:cNvSpPr/>
          <p:nvPr/>
        </p:nvSpPr>
        <p:spPr>
          <a:xfrm>
            <a:off x="365760" y="1371600"/>
            <a:ext cx="548640" cy="64008"/>
          </a:xfrm>
          <a:prstGeom prst="rect">
            <a:avLst/>
          </a:prstGeom>
          <a:solidFill>
            <a:srgbClr val="14B8A6"/>
          </a:solidFill>
          <a:ln w="12700">
            <a:solidFill>
              <a:srgbClr val="14B8A6"/>
            </a:solidFill>
            <a:prstDash val="solid"/>
          </a:ln>
        </p:spPr>
      </p:sp>
      <p:sp>
        <p:nvSpPr>
          <p:cNvPr id="6" name="Text 4"/>
          <p:cNvSpPr txBox="1"/>
          <p:nvPr/>
        </p:nvSpPr>
        <p:spPr>
          <a:xfrm>
            <a:off x="365760" y="1554480"/>
            <a:ext cx="2377440" cy="16459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Introduction</a:t>
            </a:r>
            <a:endParaRPr lang="en-US" sz="2800" dirty="0"/>
          </a:p>
        </p:txBody>
      </p:sp>
      <p:sp>
        <p:nvSpPr>
          <p:cNvPr id="7" name="Text 5"/>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2</a:t>
            </a:r>
            <a:endParaRPr lang="en-US" sz="1100" dirty="0"/>
          </a:p>
        </p:txBody>
      </p:sp>
      <p:sp>
        <p:nvSpPr>
          <p:cNvPr id="9" name="Text 6"/>
          <p:cNvSpPr txBox="1"/>
          <p:nvPr/>
        </p:nvSpPr>
        <p:spPr>
          <a:xfrm>
            <a:off x="3291840" y="457200"/>
            <a:ext cx="5394960" cy="155448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SportsCare is a web-based Sports Injury, Rehabilitation and Return-to-Play Management System. It helps coaches, physiotherapists and administrators record injuries, plan rehabilitation, follow treatment and decide when an athlete is ready to play again.</a:t>
            </a:r>
            <a:endParaRPr lang="en-US" sz="1500" dirty="0"/>
          </a:p>
        </p:txBody>
      </p:sp>
      <p:sp>
        <p:nvSpPr>
          <p:cNvPr id="10" name="Shape 7"/>
          <p:cNvSpPr/>
          <p:nvPr/>
        </p:nvSpPr>
        <p:spPr>
          <a:xfrm>
            <a:off x="3291840" y="2148840"/>
            <a:ext cx="5394960" cy="795528"/>
          </a:xfrm>
          <a:prstGeom prst="rect">
            <a:avLst/>
          </a:prstGeom>
          <a:solidFill>
            <a:srgbClr val="FFFFFF"/>
          </a:solidFill>
          <a:ln w="12700">
            <a:solidFill>
              <a:srgbClr val="E2E8F0"/>
            </a:solidFill>
            <a:prstDash val="solid"/>
          </a:ln>
        </p:spPr>
      </p:sp>
      <p:sp>
        <p:nvSpPr>
          <p:cNvPr id="11" name="Shape 8"/>
          <p:cNvSpPr/>
          <p:nvPr/>
        </p:nvSpPr>
        <p:spPr>
          <a:xfrm>
            <a:off x="3291840" y="2148840"/>
            <a:ext cx="64008" cy="795528"/>
          </a:xfrm>
          <a:prstGeom prst="rect">
            <a:avLst/>
          </a:prstGeom>
          <a:solidFill>
            <a:srgbClr val="14B8A6"/>
          </a:solidFill>
          <a:ln w="12700">
            <a:solidFill>
              <a:srgbClr val="14B8A6"/>
            </a:solidFill>
            <a:prstDash val="solid"/>
          </a:ln>
        </p:spPr>
      </p:sp>
      <p:sp>
        <p:nvSpPr>
          <p:cNvPr id="12" name="Text 9"/>
          <p:cNvSpPr txBox="1"/>
          <p:nvPr/>
        </p:nvSpPr>
        <p:spPr>
          <a:xfrm>
            <a:off x="3474720" y="2240280"/>
            <a:ext cx="512064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Who uses it</a:t>
            </a:r>
            <a:endParaRPr lang="en-US" sz="1500" dirty="0"/>
          </a:p>
        </p:txBody>
      </p:sp>
      <p:sp>
        <p:nvSpPr>
          <p:cNvPr id="13" name="Text 10"/>
          <p:cNvSpPr txBox="1"/>
          <p:nvPr/>
        </p:nvSpPr>
        <p:spPr>
          <a:xfrm>
            <a:off x="3474720" y="2569464"/>
            <a:ext cx="5120640" cy="32004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Admin, Coach and Physiotherapist. Each role gets its own access and screens.</a:t>
            </a:r>
            <a:endParaRPr lang="en-US" sz="1250" dirty="0"/>
          </a:p>
        </p:txBody>
      </p:sp>
      <p:sp>
        <p:nvSpPr>
          <p:cNvPr id="14" name="Shape 11"/>
          <p:cNvSpPr/>
          <p:nvPr/>
        </p:nvSpPr>
        <p:spPr>
          <a:xfrm>
            <a:off x="3291840" y="3054096"/>
            <a:ext cx="5394960" cy="795528"/>
          </a:xfrm>
          <a:prstGeom prst="rect">
            <a:avLst/>
          </a:prstGeom>
          <a:solidFill>
            <a:srgbClr val="FFFFFF"/>
          </a:solidFill>
          <a:ln w="12700">
            <a:solidFill>
              <a:srgbClr val="E2E8F0"/>
            </a:solidFill>
            <a:prstDash val="solid"/>
          </a:ln>
        </p:spPr>
      </p:sp>
      <p:sp>
        <p:nvSpPr>
          <p:cNvPr id="15" name="Shape 12"/>
          <p:cNvSpPr/>
          <p:nvPr/>
        </p:nvSpPr>
        <p:spPr>
          <a:xfrm>
            <a:off x="3291840" y="3054096"/>
            <a:ext cx="64008" cy="795528"/>
          </a:xfrm>
          <a:prstGeom prst="rect">
            <a:avLst/>
          </a:prstGeom>
          <a:solidFill>
            <a:srgbClr val="14B8A6"/>
          </a:solidFill>
          <a:ln w="12700">
            <a:solidFill>
              <a:srgbClr val="14B8A6"/>
            </a:solidFill>
            <a:prstDash val="solid"/>
          </a:ln>
        </p:spPr>
      </p:sp>
      <p:sp>
        <p:nvSpPr>
          <p:cNvPr id="16" name="Text 13"/>
          <p:cNvSpPr txBox="1"/>
          <p:nvPr/>
        </p:nvSpPr>
        <p:spPr>
          <a:xfrm>
            <a:off x="3474720" y="3145536"/>
            <a:ext cx="512064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What it manages</a:t>
            </a:r>
            <a:endParaRPr lang="en-US" sz="1500" dirty="0"/>
          </a:p>
        </p:txBody>
      </p:sp>
      <p:sp>
        <p:nvSpPr>
          <p:cNvPr id="17" name="Text 14"/>
          <p:cNvSpPr txBox="1"/>
          <p:nvPr/>
        </p:nvSpPr>
        <p:spPr>
          <a:xfrm>
            <a:off x="3474720" y="3474720"/>
            <a:ext cx="5120640" cy="32004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Injuries, rehabilitation, treatment, appointments and reports for every athlete.</a:t>
            </a:r>
            <a:endParaRPr lang="en-US" sz="1250" dirty="0"/>
          </a:p>
        </p:txBody>
      </p:sp>
      <p:sp>
        <p:nvSpPr>
          <p:cNvPr id="18" name="Shape 15"/>
          <p:cNvSpPr/>
          <p:nvPr/>
        </p:nvSpPr>
        <p:spPr>
          <a:xfrm>
            <a:off x="3291840" y="3959352"/>
            <a:ext cx="5394960" cy="795528"/>
          </a:xfrm>
          <a:prstGeom prst="rect">
            <a:avLst/>
          </a:prstGeom>
          <a:solidFill>
            <a:srgbClr val="FFFFFF"/>
          </a:solidFill>
          <a:ln w="12700">
            <a:solidFill>
              <a:srgbClr val="E2E8F0"/>
            </a:solidFill>
            <a:prstDash val="solid"/>
          </a:ln>
        </p:spPr>
      </p:sp>
      <p:sp>
        <p:nvSpPr>
          <p:cNvPr id="19" name="Shape 16"/>
          <p:cNvSpPr/>
          <p:nvPr/>
        </p:nvSpPr>
        <p:spPr>
          <a:xfrm>
            <a:off x="3291840" y="3959352"/>
            <a:ext cx="64008" cy="795528"/>
          </a:xfrm>
          <a:prstGeom prst="rect">
            <a:avLst/>
          </a:prstGeom>
          <a:solidFill>
            <a:srgbClr val="14B8A6"/>
          </a:solidFill>
          <a:ln w="12700">
            <a:solidFill>
              <a:srgbClr val="14B8A6"/>
            </a:solidFill>
            <a:prstDash val="solid"/>
          </a:ln>
        </p:spPr>
      </p:sp>
      <p:sp>
        <p:nvSpPr>
          <p:cNvPr id="20" name="Text 17"/>
          <p:cNvSpPr txBox="1"/>
          <p:nvPr/>
        </p:nvSpPr>
        <p:spPr>
          <a:xfrm>
            <a:off x="3474720" y="4050792"/>
            <a:ext cx="512064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How it is built</a:t>
            </a:r>
            <a:endParaRPr lang="en-US" sz="1500" dirty="0"/>
          </a:p>
        </p:txBody>
      </p:sp>
      <p:sp>
        <p:nvSpPr>
          <p:cNvPr id="21" name="Text 18"/>
          <p:cNvSpPr txBox="1"/>
          <p:nvPr/>
        </p:nvSpPr>
        <p:spPr>
          <a:xfrm>
            <a:off x="3474720" y="4379976"/>
            <a:ext cx="5120640" cy="32004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Made with HTML for the layout, CSS for the design and JavaScript for the logic. Records are saved in the browser's local storage.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B3C49"/>
          </a:solidFill>
          <a:ln w="12700">
            <a:solidFill>
              <a:srgbClr val="0B3C49"/>
            </a:solidFill>
            <a:prstDash val="solid"/>
          </a:ln>
        </p:spPr>
      </p:sp>
      <p:sp>
        <p:nvSpPr>
          <p:cNvPr id="3" name="Shape 1"/>
          <p:cNvSpPr/>
          <p:nvPr/>
        </p:nvSpPr>
        <p:spPr>
          <a:xfrm>
            <a:off x="-822960" y="3474720"/>
            <a:ext cx="2560320" cy="2560320"/>
          </a:xfrm>
          <a:prstGeom prst="ellipse">
            <a:avLst/>
          </a:prstGeom>
          <a:solidFill>
            <a:srgbClr val="14B8A6">
              <a:alpha val="25000"/>
            </a:srgbClr>
          </a:solidFill>
          <a:ln w="12700">
            <a:solidFill>
              <a:srgbClr val="14B8A6">
                <a:alpha val="25000"/>
              </a:srgbClr>
            </a:solidFill>
            <a:prstDash val="solid"/>
          </a:ln>
        </p:spPr>
      </p:sp>
      <p:sp>
        <p:nvSpPr>
          <p:cNvPr id="4" name="Shape 2"/>
          <p:cNvSpPr/>
          <p:nvPr/>
        </p:nvSpPr>
        <p:spPr>
          <a:xfrm>
            <a:off x="1188720" y="-640080"/>
            <a:ext cx="1645920" cy="1645920"/>
          </a:xfrm>
          <a:prstGeom prst="ellipse">
            <a:avLst/>
          </a:prstGeom>
          <a:solidFill>
            <a:srgbClr val="0E7C86">
              <a:alpha val="60000"/>
            </a:srgbClr>
          </a:solidFill>
          <a:ln w="12700">
            <a:solidFill>
              <a:srgbClr val="0E7C86">
                <a:alpha val="60000"/>
              </a:srgbClr>
            </a:solidFill>
            <a:prstDash val="solid"/>
          </a:ln>
        </p:spPr>
      </p:sp>
      <p:sp>
        <p:nvSpPr>
          <p:cNvPr id="5" name="Shape 3"/>
          <p:cNvSpPr/>
          <p:nvPr/>
        </p:nvSpPr>
        <p:spPr>
          <a:xfrm>
            <a:off x="365760" y="1371600"/>
            <a:ext cx="548640" cy="64008"/>
          </a:xfrm>
          <a:prstGeom prst="rect">
            <a:avLst/>
          </a:prstGeom>
          <a:solidFill>
            <a:srgbClr val="14B8A6"/>
          </a:solidFill>
          <a:ln w="12700">
            <a:solidFill>
              <a:srgbClr val="14B8A6"/>
            </a:solidFill>
            <a:prstDash val="solid"/>
          </a:ln>
        </p:spPr>
      </p:sp>
      <p:sp>
        <p:nvSpPr>
          <p:cNvPr id="6" name="Text 4"/>
          <p:cNvSpPr txBox="1"/>
          <p:nvPr/>
        </p:nvSpPr>
        <p:spPr>
          <a:xfrm>
            <a:off x="365760" y="1554480"/>
            <a:ext cx="2377440" cy="16459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Problem Statement</a:t>
            </a:r>
            <a:endParaRPr lang="en-US" sz="2800" dirty="0"/>
          </a:p>
        </p:txBody>
      </p:sp>
      <p:sp>
        <p:nvSpPr>
          <p:cNvPr id="7" name="Text 5"/>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3</a:t>
            </a:r>
            <a:endParaRPr lang="en-US" sz="1100" dirty="0"/>
          </a:p>
        </p:txBody>
      </p:sp>
      <p:sp>
        <p:nvSpPr>
          <p:cNvPr id="9" name="Text 6"/>
          <p:cNvSpPr txBox="1"/>
          <p:nvPr/>
        </p:nvSpPr>
        <p:spPr>
          <a:xfrm>
            <a:off x="3291840" y="457200"/>
            <a:ext cx="5394960" cy="1920240"/>
          </a:xfrm>
          <a:prstGeom prst="rect">
            <a:avLst/>
          </a:prstGeom>
          <a:noFill/>
          <a:ln/>
        </p:spPr>
        <p:txBody>
          <a:bodyPr wrap="square" lIns="0" tIns="0" rIns="0" bIns="0" rtlCol="0" anchor="t"/>
          <a:lstStyle/>
          <a:p>
            <a:pPr marL="0" indent="0">
              <a:buNone/>
            </a:pPr>
            <a:r>
              <a:rPr lang="en-US" sz="1500" dirty="0">
                <a:solidFill>
                  <a:srgbClr val="1B2A41"/>
                </a:solidFill>
                <a:latin typeface="Calibri" pitchFamily="34" charset="0"/>
                <a:ea typeface="Calibri" pitchFamily="34" charset="-122"/>
                <a:cs typeface="Calibri" pitchFamily="34" charset="-120"/>
              </a:rPr>
              <a:t>In many sports teams, injuries are written on paper or in separate spreadsheets. Because of this, it is hard to follow an athlete's recovery, share details between coaches and physiotherapists, and be sure the athlete is ready to play again. Missed follow-ups and an early return to play can make the injury worse.</a:t>
            </a:r>
            <a:endParaRPr lang="en-US" sz="1500" dirty="0"/>
          </a:p>
        </p:txBody>
      </p:sp>
      <p:sp>
        <p:nvSpPr>
          <p:cNvPr id="10" name="Shape 7"/>
          <p:cNvSpPr/>
          <p:nvPr/>
        </p:nvSpPr>
        <p:spPr>
          <a:xfrm>
            <a:off x="3291840" y="2514600"/>
            <a:ext cx="5394960" cy="667512"/>
          </a:xfrm>
          <a:prstGeom prst="rect">
            <a:avLst/>
          </a:prstGeom>
          <a:solidFill>
            <a:srgbClr val="FFFFFF"/>
          </a:solidFill>
          <a:ln w="12700">
            <a:solidFill>
              <a:srgbClr val="E2E8F0"/>
            </a:solidFill>
            <a:prstDash val="solid"/>
          </a:ln>
        </p:spPr>
      </p:sp>
      <p:sp>
        <p:nvSpPr>
          <p:cNvPr id="11" name="Shape 8"/>
          <p:cNvSpPr/>
          <p:nvPr/>
        </p:nvSpPr>
        <p:spPr>
          <a:xfrm>
            <a:off x="3291840" y="2514600"/>
            <a:ext cx="64008" cy="667512"/>
          </a:xfrm>
          <a:prstGeom prst="rect">
            <a:avLst/>
          </a:prstGeom>
          <a:solidFill>
            <a:srgbClr val="E5484D"/>
          </a:solidFill>
          <a:ln w="12700">
            <a:solidFill>
              <a:srgbClr val="E5484D"/>
            </a:solidFill>
            <a:prstDash val="solid"/>
          </a:ln>
        </p:spPr>
      </p:sp>
      <p:sp>
        <p:nvSpPr>
          <p:cNvPr id="12" name="Text 9"/>
          <p:cNvSpPr txBox="1"/>
          <p:nvPr/>
        </p:nvSpPr>
        <p:spPr>
          <a:xfrm>
            <a:off x="3474720" y="2606040"/>
            <a:ext cx="512064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Scattered records</a:t>
            </a:r>
            <a:endParaRPr lang="en-US" sz="1500" dirty="0"/>
          </a:p>
        </p:txBody>
      </p:sp>
      <p:sp>
        <p:nvSpPr>
          <p:cNvPr id="13" name="Text 10"/>
          <p:cNvSpPr txBox="1"/>
          <p:nvPr/>
        </p:nvSpPr>
        <p:spPr>
          <a:xfrm>
            <a:off x="3474720" y="2935224"/>
            <a:ext cx="5120640" cy="192024"/>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Injury details are kept in many different places.</a:t>
            </a:r>
            <a:endParaRPr lang="en-US" sz="1250" dirty="0"/>
          </a:p>
        </p:txBody>
      </p:sp>
      <p:sp>
        <p:nvSpPr>
          <p:cNvPr id="14" name="Shape 11"/>
          <p:cNvSpPr/>
          <p:nvPr/>
        </p:nvSpPr>
        <p:spPr>
          <a:xfrm>
            <a:off x="3291840" y="3291840"/>
            <a:ext cx="5394960" cy="667512"/>
          </a:xfrm>
          <a:prstGeom prst="rect">
            <a:avLst/>
          </a:prstGeom>
          <a:solidFill>
            <a:srgbClr val="FFFFFF"/>
          </a:solidFill>
          <a:ln w="12700">
            <a:solidFill>
              <a:srgbClr val="E2E8F0"/>
            </a:solidFill>
            <a:prstDash val="solid"/>
          </a:ln>
        </p:spPr>
      </p:sp>
      <p:sp>
        <p:nvSpPr>
          <p:cNvPr id="15" name="Shape 12"/>
          <p:cNvSpPr/>
          <p:nvPr/>
        </p:nvSpPr>
        <p:spPr>
          <a:xfrm>
            <a:off x="3291840" y="3291840"/>
            <a:ext cx="64008" cy="667512"/>
          </a:xfrm>
          <a:prstGeom prst="rect">
            <a:avLst/>
          </a:prstGeom>
          <a:solidFill>
            <a:srgbClr val="E5484D"/>
          </a:solidFill>
          <a:ln w="12700">
            <a:solidFill>
              <a:srgbClr val="E5484D"/>
            </a:solidFill>
            <a:prstDash val="solid"/>
          </a:ln>
        </p:spPr>
      </p:sp>
      <p:sp>
        <p:nvSpPr>
          <p:cNvPr id="16" name="Text 13"/>
          <p:cNvSpPr txBox="1"/>
          <p:nvPr/>
        </p:nvSpPr>
        <p:spPr>
          <a:xfrm>
            <a:off x="3474720" y="3383280"/>
            <a:ext cx="512064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Unclear progress</a:t>
            </a:r>
            <a:endParaRPr lang="en-US" sz="1500" dirty="0"/>
          </a:p>
        </p:txBody>
      </p:sp>
      <p:sp>
        <p:nvSpPr>
          <p:cNvPr id="17" name="Text 14"/>
          <p:cNvSpPr txBox="1"/>
          <p:nvPr/>
        </p:nvSpPr>
        <p:spPr>
          <a:xfrm>
            <a:off x="3474720" y="3712464"/>
            <a:ext cx="5120640" cy="192024"/>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Coaches cannot easily see how rehab is going.</a:t>
            </a:r>
            <a:endParaRPr lang="en-US" sz="1250" dirty="0"/>
          </a:p>
        </p:txBody>
      </p:sp>
      <p:sp>
        <p:nvSpPr>
          <p:cNvPr id="18" name="Shape 15"/>
          <p:cNvSpPr/>
          <p:nvPr/>
        </p:nvSpPr>
        <p:spPr>
          <a:xfrm>
            <a:off x="3291840" y="4069080"/>
            <a:ext cx="5394960" cy="667512"/>
          </a:xfrm>
          <a:prstGeom prst="rect">
            <a:avLst/>
          </a:prstGeom>
          <a:solidFill>
            <a:srgbClr val="FFFFFF"/>
          </a:solidFill>
          <a:ln w="12700">
            <a:solidFill>
              <a:srgbClr val="E2E8F0"/>
            </a:solidFill>
            <a:prstDash val="solid"/>
          </a:ln>
        </p:spPr>
      </p:sp>
      <p:sp>
        <p:nvSpPr>
          <p:cNvPr id="19" name="Shape 16"/>
          <p:cNvSpPr/>
          <p:nvPr/>
        </p:nvSpPr>
        <p:spPr>
          <a:xfrm>
            <a:off x="3291840" y="4069080"/>
            <a:ext cx="64008" cy="667512"/>
          </a:xfrm>
          <a:prstGeom prst="rect">
            <a:avLst/>
          </a:prstGeom>
          <a:solidFill>
            <a:srgbClr val="E5484D"/>
          </a:solidFill>
          <a:ln w="12700">
            <a:solidFill>
              <a:srgbClr val="E5484D"/>
            </a:solidFill>
            <a:prstDash val="solid"/>
          </a:ln>
        </p:spPr>
      </p:sp>
      <p:sp>
        <p:nvSpPr>
          <p:cNvPr id="20" name="Text 17"/>
          <p:cNvSpPr txBox="1"/>
          <p:nvPr/>
        </p:nvSpPr>
        <p:spPr>
          <a:xfrm>
            <a:off x="3474720" y="4160520"/>
            <a:ext cx="512064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Unsafe returns</a:t>
            </a:r>
            <a:endParaRPr lang="en-US" sz="1500" dirty="0"/>
          </a:p>
        </p:txBody>
      </p:sp>
      <p:sp>
        <p:nvSpPr>
          <p:cNvPr id="21" name="Text 18"/>
          <p:cNvSpPr txBox="1"/>
          <p:nvPr/>
        </p:nvSpPr>
        <p:spPr>
          <a:xfrm>
            <a:off x="3474720" y="4489704"/>
            <a:ext cx="5120640" cy="192024"/>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Athletes may go back to play before they are ready.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B3C49"/>
          </a:solidFill>
          <a:ln w="12700">
            <a:solidFill>
              <a:srgbClr val="0B3C49"/>
            </a:solidFill>
            <a:prstDash val="solid"/>
          </a:ln>
        </p:spPr>
      </p:sp>
      <p:sp>
        <p:nvSpPr>
          <p:cNvPr id="3" name="Shape 1"/>
          <p:cNvSpPr/>
          <p:nvPr/>
        </p:nvSpPr>
        <p:spPr>
          <a:xfrm>
            <a:off x="-822960" y="3474720"/>
            <a:ext cx="2560320" cy="2560320"/>
          </a:xfrm>
          <a:prstGeom prst="ellipse">
            <a:avLst/>
          </a:prstGeom>
          <a:solidFill>
            <a:srgbClr val="14B8A6">
              <a:alpha val="25000"/>
            </a:srgbClr>
          </a:solidFill>
          <a:ln w="12700">
            <a:solidFill>
              <a:srgbClr val="14B8A6">
                <a:alpha val="25000"/>
              </a:srgbClr>
            </a:solidFill>
            <a:prstDash val="solid"/>
          </a:ln>
        </p:spPr>
      </p:sp>
      <p:sp>
        <p:nvSpPr>
          <p:cNvPr id="4" name="Shape 2"/>
          <p:cNvSpPr/>
          <p:nvPr/>
        </p:nvSpPr>
        <p:spPr>
          <a:xfrm>
            <a:off x="1188720" y="-640080"/>
            <a:ext cx="1645920" cy="1645920"/>
          </a:xfrm>
          <a:prstGeom prst="ellipse">
            <a:avLst/>
          </a:prstGeom>
          <a:solidFill>
            <a:srgbClr val="0E7C86">
              <a:alpha val="60000"/>
            </a:srgbClr>
          </a:solidFill>
          <a:ln w="12700">
            <a:solidFill>
              <a:srgbClr val="0E7C86">
                <a:alpha val="60000"/>
              </a:srgbClr>
            </a:solidFill>
            <a:prstDash val="solid"/>
          </a:ln>
        </p:spPr>
      </p:sp>
      <p:sp>
        <p:nvSpPr>
          <p:cNvPr id="5" name="Shape 3"/>
          <p:cNvSpPr/>
          <p:nvPr/>
        </p:nvSpPr>
        <p:spPr>
          <a:xfrm>
            <a:off x="365760" y="1371600"/>
            <a:ext cx="548640" cy="64008"/>
          </a:xfrm>
          <a:prstGeom prst="rect">
            <a:avLst/>
          </a:prstGeom>
          <a:solidFill>
            <a:srgbClr val="14B8A6"/>
          </a:solidFill>
          <a:ln w="12700">
            <a:solidFill>
              <a:srgbClr val="14B8A6"/>
            </a:solidFill>
            <a:prstDash val="solid"/>
          </a:ln>
        </p:spPr>
      </p:sp>
      <p:sp>
        <p:nvSpPr>
          <p:cNvPr id="6" name="Text 4"/>
          <p:cNvSpPr txBox="1"/>
          <p:nvPr/>
        </p:nvSpPr>
        <p:spPr>
          <a:xfrm>
            <a:off x="365760" y="1554480"/>
            <a:ext cx="2377440" cy="16459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Our Solution</a:t>
            </a:r>
            <a:endParaRPr lang="en-US" sz="2800" dirty="0"/>
          </a:p>
        </p:txBody>
      </p:sp>
      <p:sp>
        <p:nvSpPr>
          <p:cNvPr id="7" name="Text 5"/>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4</a:t>
            </a:r>
            <a:endParaRPr lang="en-US" sz="1100" dirty="0"/>
          </a:p>
        </p:txBody>
      </p:sp>
      <p:sp>
        <p:nvSpPr>
          <p:cNvPr id="9" name="Shape 6"/>
          <p:cNvSpPr/>
          <p:nvPr/>
        </p:nvSpPr>
        <p:spPr>
          <a:xfrm>
            <a:off x="3291840" y="502920"/>
            <a:ext cx="1554480" cy="1143000"/>
          </a:xfrm>
          <a:prstGeom prst="rect">
            <a:avLst/>
          </a:prstGeom>
          <a:solidFill>
            <a:srgbClr val="FDECEC"/>
          </a:solidFill>
          <a:ln w="12700">
            <a:solidFill>
              <a:srgbClr val="E5484D"/>
            </a:solidFill>
            <a:prstDash val="solid"/>
          </a:ln>
        </p:spPr>
      </p:sp>
      <p:sp>
        <p:nvSpPr>
          <p:cNvPr id="10" name="Text 7"/>
          <p:cNvSpPr txBox="1"/>
          <p:nvPr/>
        </p:nvSpPr>
        <p:spPr>
          <a:xfrm>
            <a:off x="3383280" y="502920"/>
            <a:ext cx="1371600" cy="1143000"/>
          </a:xfrm>
          <a:prstGeom prst="rect">
            <a:avLst/>
          </a:prstGeom>
          <a:noFill/>
          <a:ln/>
        </p:spPr>
        <p:txBody>
          <a:bodyPr wrap="square" lIns="0" tIns="0" rIns="0" bIns="0" rtlCol="0" anchor="ctr"/>
          <a:lstStyle/>
          <a:p>
            <a:pPr marL="0" indent="0">
              <a:buNone/>
            </a:pPr>
            <a:r>
              <a:rPr lang="en-US" sz="1000" b="1" dirty="0">
                <a:solidFill>
                  <a:srgbClr val="E5484D"/>
                </a:solidFill>
                <a:latin typeface="Calibri" pitchFamily="34" charset="0"/>
                <a:ea typeface="Calibri" pitchFamily="34" charset="-122"/>
                <a:cs typeface="Calibri" pitchFamily="34" charset="-120"/>
              </a:rPr>
              <a:t>PROBLEM</a:t>
            </a:r>
            <a:endParaRPr lang="en-US" sz="1000" dirty="0"/>
          </a:p>
          <a:p>
            <a:pPr marL="0" indent="0">
              <a:buNone/>
            </a:pPr>
            <a:r>
              <a:rPr lang="en-US" sz="1400" b="1" dirty="0">
                <a:solidFill>
                  <a:srgbClr val="1B2A41"/>
                </a:solidFill>
                <a:latin typeface="Calibri" pitchFamily="34" charset="0"/>
                <a:ea typeface="Calibri" pitchFamily="34" charset="-122"/>
                <a:cs typeface="Calibri" pitchFamily="34" charset="-120"/>
              </a:rPr>
              <a:t>Scattered records</a:t>
            </a:r>
            <a:endParaRPr lang="en-US" sz="1000" dirty="0"/>
          </a:p>
        </p:txBody>
      </p:sp>
      <p:sp>
        <p:nvSpPr>
          <p:cNvPr id="11" name="Text 8"/>
          <p:cNvSpPr txBox="1"/>
          <p:nvPr/>
        </p:nvSpPr>
        <p:spPr>
          <a:xfrm>
            <a:off x="4846320" y="502920"/>
            <a:ext cx="365760" cy="1143000"/>
          </a:xfrm>
          <a:prstGeom prst="rect">
            <a:avLst/>
          </a:prstGeom>
          <a:noFill/>
          <a:ln/>
        </p:spPr>
        <p:txBody>
          <a:bodyPr wrap="square" lIns="0" tIns="0" rIns="0" bIns="0" rtlCol="0" anchor="ctr"/>
          <a:lstStyle/>
          <a:p>
            <a:pPr marL="0" indent="0" algn="ctr">
              <a:buNone/>
            </a:pPr>
            <a:r>
              <a:rPr lang="en-US" sz="2200" dirty="0">
                <a:solidFill>
                  <a:srgbClr val="0E7C86"/>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212080" y="502920"/>
            <a:ext cx="3474720" cy="1143000"/>
          </a:xfrm>
          <a:prstGeom prst="rect">
            <a:avLst/>
          </a:prstGeom>
          <a:solidFill>
            <a:srgbClr val="FFFFFF"/>
          </a:solidFill>
          <a:ln w="12700">
            <a:solidFill>
              <a:srgbClr val="E2E8F0"/>
            </a:solidFill>
            <a:prstDash val="solid"/>
          </a:ln>
        </p:spPr>
      </p:sp>
      <p:sp>
        <p:nvSpPr>
          <p:cNvPr id="13" name="Shape 10"/>
          <p:cNvSpPr/>
          <p:nvPr/>
        </p:nvSpPr>
        <p:spPr>
          <a:xfrm>
            <a:off x="5212080" y="502920"/>
            <a:ext cx="64008" cy="1143000"/>
          </a:xfrm>
          <a:prstGeom prst="rect">
            <a:avLst/>
          </a:prstGeom>
          <a:solidFill>
            <a:srgbClr val="14B8A6"/>
          </a:solidFill>
          <a:ln w="12700">
            <a:solidFill>
              <a:srgbClr val="14B8A6"/>
            </a:solidFill>
            <a:prstDash val="solid"/>
          </a:ln>
        </p:spPr>
      </p:sp>
      <p:sp>
        <p:nvSpPr>
          <p:cNvPr id="14" name="Text 11"/>
          <p:cNvSpPr txBox="1"/>
          <p:nvPr/>
        </p:nvSpPr>
        <p:spPr>
          <a:xfrm>
            <a:off x="5394960" y="594360"/>
            <a:ext cx="320040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One central portal</a:t>
            </a:r>
            <a:endParaRPr lang="en-US" sz="1500" dirty="0"/>
          </a:p>
        </p:txBody>
      </p:sp>
      <p:sp>
        <p:nvSpPr>
          <p:cNvPr id="15" name="Text 12"/>
          <p:cNvSpPr txBox="1"/>
          <p:nvPr/>
        </p:nvSpPr>
        <p:spPr>
          <a:xfrm>
            <a:off x="5394960" y="923544"/>
            <a:ext cx="3200400" cy="6675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All athlete, injury and treatment records are stored and searched in one place.</a:t>
            </a:r>
            <a:endParaRPr lang="en-US" sz="1250" dirty="0"/>
          </a:p>
        </p:txBody>
      </p:sp>
      <p:sp>
        <p:nvSpPr>
          <p:cNvPr id="16" name="Shape 13"/>
          <p:cNvSpPr/>
          <p:nvPr/>
        </p:nvSpPr>
        <p:spPr>
          <a:xfrm>
            <a:off x="3291840" y="1874520"/>
            <a:ext cx="1554480" cy="1143000"/>
          </a:xfrm>
          <a:prstGeom prst="rect">
            <a:avLst/>
          </a:prstGeom>
          <a:solidFill>
            <a:srgbClr val="FDECEC"/>
          </a:solidFill>
          <a:ln w="12700">
            <a:solidFill>
              <a:srgbClr val="E5484D"/>
            </a:solidFill>
            <a:prstDash val="solid"/>
          </a:ln>
        </p:spPr>
      </p:sp>
      <p:sp>
        <p:nvSpPr>
          <p:cNvPr id="17" name="Text 14"/>
          <p:cNvSpPr txBox="1"/>
          <p:nvPr/>
        </p:nvSpPr>
        <p:spPr>
          <a:xfrm>
            <a:off x="3383280" y="1874520"/>
            <a:ext cx="1371600" cy="1143000"/>
          </a:xfrm>
          <a:prstGeom prst="rect">
            <a:avLst/>
          </a:prstGeom>
          <a:noFill/>
          <a:ln/>
        </p:spPr>
        <p:txBody>
          <a:bodyPr wrap="square" lIns="0" tIns="0" rIns="0" bIns="0" rtlCol="0" anchor="ctr"/>
          <a:lstStyle/>
          <a:p>
            <a:pPr marL="0" indent="0">
              <a:buNone/>
            </a:pPr>
            <a:r>
              <a:rPr lang="en-US" sz="1000" b="1" dirty="0">
                <a:solidFill>
                  <a:srgbClr val="E5484D"/>
                </a:solidFill>
                <a:latin typeface="Calibri" pitchFamily="34" charset="0"/>
                <a:ea typeface="Calibri" pitchFamily="34" charset="-122"/>
                <a:cs typeface="Calibri" pitchFamily="34" charset="-120"/>
              </a:rPr>
              <a:t>PROBLEM</a:t>
            </a:r>
            <a:endParaRPr lang="en-US" sz="1000" dirty="0"/>
          </a:p>
          <a:p>
            <a:pPr marL="0" indent="0">
              <a:buNone/>
            </a:pPr>
            <a:r>
              <a:rPr lang="en-US" sz="1400" b="1" dirty="0">
                <a:solidFill>
                  <a:srgbClr val="1B2A41"/>
                </a:solidFill>
                <a:latin typeface="Calibri" pitchFamily="34" charset="0"/>
                <a:ea typeface="Calibri" pitchFamily="34" charset="-122"/>
                <a:cs typeface="Calibri" pitchFamily="34" charset="-120"/>
              </a:rPr>
              <a:t>Unclear progress</a:t>
            </a:r>
            <a:endParaRPr lang="en-US" sz="1000" dirty="0"/>
          </a:p>
        </p:txBody>
      </p:sp>
      <p:sp>
        <p:nvSpPr>
          <p:cNvPr id="18" name="Text 15"/>
          <p:cNvSpPr txBox="1"/>
          <p:nvPr/>
        </p:nvSpPr>
        <p:spPr>
          <a:xfrm>
            <a:off x="4846320" y="1874520"/>
            <a:ext cx="365760" cy="1143000"/>
          </a:xfrm>
          <a:prstGeom prst="rect">
            <a:avLst/>
          </a:prstGeom>
          <a:noFill/>
          <a:ln/>
        </p:spPr>
        <p:txBody>
          <a:bodyPr wrap="square" lIns="0" tIns="0" rIns="0" bIns="0" rtlCol="0" anchor="ctr"/>
          <a:lstStyle/>
          <a:p>
            <a:pPr marL="0" indent="0" algn="ctr">
              <a:buNone/>
            </a:pPr>
            <a:r>
              <a:rPr lang="en-US" sz="2200" dirty="0">
                <a:solidFill>
                  <a:srgbClr val="0E7C86"/>
                </a:solidFill>
                <a:latin typeface="Calibri" pitchFamily="34" charset="0"/>
                <a:ea typeface="Calibri" pitchFamily="34" charset="-122"/>
                <a:cs typeface="Calibri" pitchFamily="34" charset="-120"/>
              </a:rPr>
              <a:t>→</a:t>
            </a:r>
            <a:endParaRPr lang="en-US" sz="2200" dirty="0"/>
          </a:p>
        </p:txBody>
      </p:sp>
      <p:sp>
        <p:nvSpPr>
          <p:cNvPr id="19" name="Shape 16"/>
          <p:cNvSpPr/>
          <p:nvPr/>
        </p:nvSpPr>
        <p:spPr>
          <a:xfrm>
            <a:off x="5212080" y="1874520"/>
            <a:ext cx="3474720" cy="1143000"/>
          </a:xfrm>
          <a:prstGeom prst="rect">
            <a:avLst/>
          </a:prstGeom>
          <a:solidFill>
            <a:srgbClr val="FFFFFF"/>
          </a:solidFill>
          <a:ln w="12700">
            <a:solidFill>
              <a:srgbClr val="E2E8F0"/>
            </a:solidFill>
            <a:prstDash val="solid"/>
          </a:ln>
        </p:spPr>
      </p:sp>
      <p:sp>
        <p:nvSpPr>
          <p:cNvPr id="20" name="Shape 17"/>
          <p:cNvSpPr/>
          <p:nvPr/>
        </p:nvSpPr>
        <p:spPr>
          <a:xfrm>
            <a:off x="5212080" y="1874520"/>
            <a:ext cx="64008" cy="1143000"/>
          </a:xfrm>
          <a:prstGeom prst="rect">
            <a:avLst/>
          </a:prstGeom>
          <a:solidFill>
            <a:srgbClr val="14B8A6"/>
          </a:solidFill>
          <a:ln w="12700">
            <a:solidFill>
              <a:srgbClr val="14B8A6"/>
            </a:solidFill>
            <a:prstDash val="solid"/>
          </a:ln>
        </p:spPr>
      </p:sp>
      <p:sp>
        <p:nvSpPr>
          <p:cNvPr id="21" name="Text 18"/>
          <p:cNvSpPr txBox="1"/>
          <p:nvPr/>
        </p:nvSpPr>
        <p:spPr>
          <a:xfrm>
            <a:off x="5394960" y="1965960"/>
            <a:ext cx="320040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Clear rehab tracking</a:t>
            </a:r>
            <a:endParaRPr lang="en-US" sz="1500" dirty="0"/>
          </a:p>
        </p:txBody>
      </p:sp>
      <p:sp>
        <p:nvSpPr>
          <p:cNvPr id="22" name="Text 19"/>
          <p:cNvSpPr txBox="1"/>
          <p:nvPr/>
        </p:nvSpPr>
        <p:spPr>
          <a:xfrm>
            <a:off x="5394960" y="2295144"/>
            <a:ext cx="3200400" cy="6675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Exercise checklists, progress bars and timelines show recovery at a glance.</a:t>
            </a:r>
            <a:endParaRPr lang="en-US" sz="1250" dirty="0"/>
          </a:p>
        </p:txBody>
      </p:sp>
      <p:sp>
        <p:nvSpPr>
          <p:cNvPr id="23" name="Shape 20"/>
          <p:cNvSpPr/>
          <p:nvPr/>
        </p:nvSpPr>
        <p:spPr>
          <a:xfrm>
            <a:off x="3291840" y="3246120"/>
            <a:ext cx="1554480" cy="1143000"/>
          </a:xfrm>
          <a:prstGeom prst="rect">
            <a:avLst/>
          </a:prstGeom>
          <a:solidFill>
            <a:srgbClr val="FDECEC"/>
          </a:solidFill>
          <a:ln w="12700">
            <a:solidFill>
              <a:srgbClr val="E5484D"/>
            </a:solidFill>
            <a:prstDash val="solid"/>
          </a:ln>
        </p:spPr>
      </p:sp>
      <p:sp>
        <p:nvSpPr>
          <p:cNvPr id="24" name="Text 21"/>
          <p:cNvSpPr txBox="1"/>
          <p:nvPr/>
        </p:nvSpPr>
        <p:spPr>
          <a:xfrm>
            <a:off x="3383280" y="3246120"/>
            <a:ext cx="1371600" cy="1143000"/>
          </a:xfrm>
          <a:prstGeom prst="rect">
            <a:avLst/>
          </a:prstGeom>
          <a:noFill/>
          <a:ln/>
        </p:spPr>
        <p:txBody>
          <a:bodyPr wrap="square" lIns="0" tIns="0" rIns="0" bIns="0" rtlCol="0" anchor="ctr"/>
          <a:lstStyle/>
          <a:p>
            <a:pPr marL="0" indent="0">
              <a:buNone/>
            </a:pPr>
            <a:r>
              <a:rPr lang="en-US" sz="1000" b="1" dirty="0">
                <a:solidFill>
                  <a:srgbClr val="E5484D"/>
                </a:solidFill>
                <a:latin typeface="Calibri" pitchFamily="34" charset="0"/>
                <a:ea typeface="Calibri" pitchFamily="34" charset="-122"/>
                <a:cs typeface="Calibri" pitchFamily="34" charset="-120"/>
              </a:rPr>
              <a:t>PROBLEM</a:t>
            </a:r>
            <a:endParaRPr lang="en-US" sz="1000" dirty="0"/>
          </a:p>
          <a:p>
            <a:pPr marL="0" indent="0">
              <a:buNone/>
            </a:pPr>
            <a:r>
              <a:rPr lang="en-US" sz="1400" b="1" dirty="0">
                <a:solidFill>
                  <a:srgbClr val="1B2A41"/>
                </a:solidFill>
                <a:latin typeface="Calibri" pitchFamily="34" charset="0"/>
                <a:ea typeface="Calibri" pitchFamily="34" charset="-122"/>
                <a:cs typeface="Calibri" pitchFamily="34" charset="-120"/>
              </a:rPr>
              <a:t>Unsafe returns</a:t>
            </a:r>
            <a:endParaRPr lang="en-US" sz="1000" dirty="0"/>
          </a:p>
        </p:txBody>
      </p:sp>
      <p:sp>
        <p:nvSpPr>
          <p:cNvPr id="25" name="Text 22"/>
          <p:cNvSpPr txBox="1"/>
          <p:nvPr/>
        </p:nvSpPr>
        <p:spPr>
          <a:xfrm>
            <a:off x="4846320" y="3246120"/>
            <a:ext cx="365760" cy="1143000"/>
          </a:xfrm>
          <a:prstGeom prst="rect">
            <a:avLst/>
          </a:prstGeom>
          <a:noFill/>
          <a:ln/>
        </p:spPr>
        <p:txBody>
          <a:bodyPr wrap="square" lIns="0" tIns="0" rIns="0" bIns="0" rtlCol="0" anchor="ctr"/>
          <a:lstStyle/>
          <a:p>
            <a:pPr marL="0" indent="0" algn="ctr">
              <a:buNone/>
            </a:pPr>
            <a:r>
              <a:rPr lang="en-US" sz="2200" dirty="0">
                <a:solidFill>
                  <a:srgbClr val="0E7C86"/>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5212080" y="3246120"/>
            <a:ext cx="3474720" cy="1143000"/>
          </a:xfrm>
          <a:prstGeom prst="rect">
            <a:avLst/>
          </a:prstGeom>
          <a:solidFill>
            <a:srgbClr val="FFFFFF"/>
          </a:solidFill>
          <a:ln w="12700">
            <a:solidFill>
              <a:srgbClr val="E2E8F0"/>
            </a:solidFill>
            <a:prstDash val="solid"/>
          </a:ln>
        </p:spPr>
      </p:sp>
      <p:sp>
        <p:nvSpPr>
          <p:cNvPr id="27" name="Shape 24"/>
          <p:cNvSpPr/>
          <p:nvPr/>
        </p:nvSpPr>
        <p:spPr>
          <a:xfrm>
            <a:off x="5212080" y="3246120"/>
            <a:ext cx="64008" cy="1143000"/>
          </a:xfrm>
          <a:prstGeom prst="rect">
            <a:avLst/>
          </a:prstGeom>
          <a:solidFill>
            <a:srgbClr val="14B8A6"/>
          </a:solidFill>
          <a:ln w="12700">
            <a:solidFill>
              <a:srgbClr val="14B8A6"/>
            </a:solidFill>
            <a:prstDash val="solid"/>
          </a:ln>
        </p:spPr>
      </p:sp>
      <p:sp>
        <p:nvSpPr>
          <p:cNvPr id="28" name="Text 25"/>
          <p:cNvSpPr txBox="1"/>
          <p:nvPr/>
        </p:nvSpPr>
        <p:spPr>
          <a:xfrm>
            <a:off x="5394960" y="3337560"/>
            <a:ext cx="320040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Safe return checklist</a:t>
            </a:r>
            <a:endParaRPr lang="en-US" sz="1500" dirty="0"/>
          </a:p>
        </p:txBody>
      </p:sp>
      <p:sp>
        <p:nvSpPr>
          <p:cNvPr id="29" name="Text 26"/>
          <p:cNvSpPr txBox="1"/>
          <p:nvPr/>
        </p:nvSpPr>
        <p:spPr>
          <a:xfrm>
            <a:off x="5394960" y="3666744"/>
            <a:ext cx="3200400" cy="6675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 readiness checklist and physiotherapist-only clearance protect the athlete.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Objectives</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5</a:t>
            </a:r>
            <a:endParaRPr lang="en-US" sz="1100" dirty="0"/>
          </a:p>
        </p:txBody>
      </p:sp>
      <p:sp>
        <p:nvSpPr>
          <p:cNvPr id="8" name="Shape 5"/>
          <p:cNvSpPr/>
          <p:nvPr/>
        </p:nvSpPr>
        <p:spPr>
          <a:xfrm>
            <a:off x="548640" y="1280160"/>
            <a:ext cx="2529840" cy="1600200"/>
          </a:xfrm>
          <a:prstGeom prst="rect">
            <a:avLst/>
          </a:prstGeom>
          <a:solidFill>
            <a:srgbClr val="FFFFFF"/>
          </a:solidFill>
          <a:ln w="12700">
            <a:solidFill>
              <a:srgbClr val="E2E8F0"/>
            </a:solidFill>
            <a:prstDash val="solid"/>
          </a:ln>
        </p:spPr>
      </p:sp>
      <p:sp>
        <p:nvSpPr>
          <p:cNvPr id="9" name="Shape 6"/>
          <p:cNvSpPr/>
          <p:nvPr/>
        </p:nvSpPr>
        <p:spPr>
          <a:xfrm>
            <a:off x="548640" y="1280160"/>
            <a:ext cx="64008" cy="1600200"/>
          </a:xfrm>
          <a:prstGeom prst="rect">
            <a:avLst/>
          </a:prstGeom>
          <a:solidFill>
            <a:srgbClr val="14B8A6"/>
          </a:solidFill>
          <a:ln w="12700">
            <a:solidFill>
              <a:srgbClr val="14B8A6"/>
            </a:solidFill>
            <a:prstDash val="solid"/>
          </a:ln>
        </p:spPr>
      </p:sp>
      <p:sp>
        <p:nvSpPr>
          <p:cNvPr id="10" name="Text 7"/>
          <p:cNvSpPr txBox="1"/>
          <p:nvPr/>
        </p:nvSpPr>
        <p:spPr>
          <a:xfrm>
            <a:off x="731520" y="137160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1. Keep records in one place</a:t>
            </a:r>
            <a:endParaRPr lang="en-US" sz="1500" dirty="0"/>
          </a:p>
        </p:txBody>
      </p:sp>
      <p:sp>
        <p:nvSpPr>
          <p:cNvPr id="11" name="Text 8"/>
          <p:cNvSpPr txBox="1"/>
          <p:nvPr/>
        </p:nvSpPr>
        <p:spPr>
          <a:xfrm>
            <a:off x="731520" y="1700784"/>
            <a:ext cx="2255520" cy="11247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Store athlete details, injury history and treatment so nothing is lost or repeated.</a:t>
            </a:r>
            <a:endParaRPr lang="en-US" sz="1250" dirty="0"/>
          </a:p>
        </p:txBody>
      </p:sp>
      <p:sp>
        <p:nvSpPr>
          <p:cNvPr id="12" name="Shape 9"/>
          <p:cNvSpPr/>
          <p:nvPr/>
        </p:nvSpPr>
        <p:spPr>
          <a:xfrm>
            <a:off x="3307080" y="1280160"/>
            <a:ext cx="2529840" cy="1600200"/>
          </a:xfrm>
          <a:prstGeom prst="rect">
            <a:avLst/>
          </a:prstGeom>
          <a:solidFill>
            <a:srgbClr val="FFFFFF"/>
          </a:solidFill>
          <a:ln w="12700">
            <a:solidFill>
              <a:srgbClr val="E2E8F0"/>
            </a:solidFill>
            <a:prstDash val="solid"/>
          </a:ln>
        </p:spPr>
      </p:sp>
      <p:sp>
        <p:nvSpPr>
          <p:cNvPr id="13" name="Shape 10"/>
          <p:cNvSpPr/>
          <p:nvPr/>
        </p:nvSpPr>
        <p:spPr>
          <a:xfrm>
            <a:off x="3307080" y="1280160"/>
            <a:ext cx="64008" cy="1600200"/>
          </a:xfrm>
          <a:prstGeom prst="rect">
            <a:avLst/>
          </a:prstGeom>
          <a:solidFill>
            <a:srgbClr val="14B8A6"/>
          </a:solidFill>
          <a:ln w="12700">
            <a:solidFill>
              <a:srgbClr val="14B8A6"/>
            </a:solidFill>
            <a:prstDash val="solid"/>
          </a:ln>
        </p:spPr>
      </p:sp>
      <p:sp>
        <p:nvSpPr>
          <p:cNvPr id="14" name="Text 11"/>
          <p:cNvSpPr txBox="1"/>
          <p:nvPr/>
        </p:nvSpPr>
        <p:spPr>
          <a:xfrm>
            <a:off x="3489960" y="137160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2. Plan the rehabilitation</a:t>
            </a:r>
            <a:endParaRPr lang="en-US" sz="1500" dirty="0"/>
          </a:p>
        </p:txBody>
      </p:sp>
      <p:sp>
        <p:nvSpPr>
          <p:cNvPr id="15" name="Text 12"/>
          <p:cNvSpPr txBox="1"/>
          <p:nvPr/>
        </p:nvSpPr>
        <p:spPr>
          <a:xfrm>
            <a:off x="3489960" y="1700784"/>
            <a:ext cx="2255520" cy="11247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Give every injured athlete an exercise plan with a daily checklist and progress bar.</a:t>
            </a:r>
            <a:endParaRPr lang="en-US" sz="1250" dirty="0"/>
          </a:p>
        </p:txBody>
      </p:sp>
      <p:sp>
        <p:nvSpPr>
          <p:cNvPr id="16" name="Shape 13"/>
          <p:cNvSpPr/>
          <p:nvPr/>
        </p:nvSpPr>
        <p:spPr>
          <a:xfrm>
            <a:off x="6065520" y="1280160"/>
            <a:ext cx="2529840" cy="1600200"/>
          </a:xfrm>
          <a:prstGeom prst="rect">
            <a:avLst/>
          </a:prstGeom>
          <a:solidFill>
            <a:srgbClr val="FFFFFF"/>
          </a:solidFill>
          <a:ln w="12700">
            <a:solidFill>
              <a:srgbClr val="E2E8F0"/>
            </a:solidFill>
            <a:prstDash val="solid"/>
          </a:ln>
        </p:spPr>
      </p:sp>
      <p:sp>
        <p:nvSpPr>
          <p:cNvPr id="17" name="Shape 14"/>
          <p:cNvSpPr/>
          <p:nvPr/>
        </p:nvSpPr>
        <p:spPr>
          <a:xfrm>
            <a:off x="6065520" y="1280160"/>
            <a:ext cx="64008" cy="1600200"/>
          </a:xfrm>
          <a:prstGeom prst="rect">
            <a:avLst/>
          </a:prstGeom>
          <a:solidFill>
            <a:srgbClr val="14B8A6"/>
          </a:solidFill>
          <a:ln w="12700">
            <a:solidFill>
              <a:srgbClr val="14B8A6"/>
            </a:solidFill>
            <a:prstDash val="solid"/>
          </a:ln>
        </p:spPr>
      </p:sp>
      <p:sp>
        <p:nvSpPr>
          <p:cNvPr id="18" name="Text 15"/>
          <p:cNvSpPr txBox="1"/>
          <p:nvPr/>
        </p:nvSpPr>
        <p:spPr>
          <a:xfrm>
            <a:off x="6248400" y="137160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3. Track the treatment</a:t>
            </a:r>
            <a:endParaRPr lang="en-US" sz="1500" dirty="0"/>
          </a:p>
        </p:txBody>
      </p:sp>
      <p:sp>
        <p:nvSpPr>
          <p:cNvPr id="19" name="Text 16"/>
          <p:cNvSpPr txBox="1"/>
          <p:nvPr/>
        </p:nvSpPr>
        <p:spPr>
          <a:xfrm>
            <a:off x="6248400" y="1700784"/>
            <a:ext cx="2255520" cy="11247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Note treatment plans and follow-up dates so that no visit is missed.</a:t>
            </a:r>
            <a:endParaRPr lang="en-US" sz="1250" dirty="0"/>
          </a:p>
        </p:txBody>
      </p:sp>
      <p:sp>
        <p:nvSpPr>
          <p:cNvPr id="20" name="Shape 17"/>
          <p:cNvSpPr/>
          <p:nvPr/>
        </p:nvSpPr>
        <p:spPr>
          <a:xfrm>
            <a:off x="548640" y="3063240"/>
            <a:ext cx="2529840" cy="1600200"/>
          </a:xfrm>
          <a:prstGeom prst="rect">
            <a:avLst/>
          </a:prstGeom>
          <a:solidFill>
            <a:srgbClr val="FFFFFF"/>
          </a:solidFill>
          <a:ln w="12700">
            <a:solidFill>
              <a:srgbClr val="E2E8F0"/>
            </a:solidFill>
            <a:prstDash val="solid"/>
          </a:ln>
        </p:spPr>
      </p:sp>
      <p:sp>
        <p:nvSpPr>
          <p:cNvPr id="21" name="Shape 18"/>
          <p:cNvSpPr/>
          <p:nvPr/>
        </p:nvSpPr>
        <p:spPr>
          <a:xfrm>
            <a:off x="548640" y="3063240"/>
            <a:ext cx="64008" cy="1600200"/>
          </a:xfrm>
          <a:prstGeom prst="rect">
            <a:avLst/>
          </a:prstGeom>
          <a:solidFill>
            <a:srgbClr val="14B8A6"/>
          </a:solidFill>
          <a:ln w="12700">
            <a:solidFill>
              <a:srgbClr val="14B8A6"/>
            </a:solidFill>
            <a:prstDash val="solid"/>
          </a:ln>
        </p:spPr>
      </p:sp>
      <p:sp>
        <p:nvSpPr>
          <p:cNvPr id="22" name="Text 19"/>
          <p:cNvSpPr txBox="1"/>
          <p:nvPr/>
        </p:nvSpPr>
        <p:spPr>
          <a:xfrm>
            <a:off x="731520" y="315468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4. Check readiness</a:t>
            </a:r>
            <a:endParaRPr lang="en-US" sz="1500" dirty="0"/>
          </a:p>
        </p:txBody>
      </p:sp>
      <p:sp>
        <p:nvSpPr>
          <p:cNvPr id="23" name="Text 20"/>
          <p:cNvSpPr txBox="1"/>
          <p:nvPr/>
        </p:nvSpPr>
        <p:spPr>
          <a:xfrm>
            <a:off x="731520" y="3483864"/>
            <a:ext cx="2255520" cy="11247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Use a simple checklist to judge whether an athlete is fit to return to play.</a:t>
            </a:r>
            <a:endParaRPr lang="en-US" sz="1250" dirty="0"/>
          </a:p>
        </p:txBody>
      </p:sp>
      <p:sp>
        <p:nvSpPr>
          <p:cNvPr id="24" name="Shape 21"/>
          <p:cNvSpPr/>
          <p:nvPr/>
        </p:nvSpPr>
        <p:spPr>
          <a:xfrm>
            <a:off x="3307080" y="3063240"/>
            <a:ext cx="2529840" cy="1600200"/>
          </a:xfrm>
          <a:prstGeom prst="rect">
            <a:avLst/>
          </a:prstGeom>
          <a:solidFill>
            <a:srgbClr val="FFFFFF"/>
          </a:solidFill>
          <a:ln w="12700">
            <a:solidFill>
              <a:srgbClr val="E2E8F0"/>
            </a:solidFill>
            <a:prstDash val="solid"/>
          </a:ln>
        </p:spPr>
      </p:sp>
      <p:sp>
        <p:nvSpPr>
          <p:cNvPr id="25" name="Shape 22"/>
          <p:cNvSpPr/>
          <p:nvPr/>
        </p:nvSpPr>
        <p:spPr>
          <a:xfrm>
            <a:off x="3307080" y="3063240"/>
            <a:ext cx="64008" cy="1600200"/>
          </a:xfrm>
          <a:prstGeom prst="rect">
            <a:avLst/>
          </a:prstGeom>
          <a:solidFill>
            <a:srgbClr val="14B8A6"/>
          </a:solidFill>
          <a:ln w="12700">
            <a:solidFill>
              <a:srgbClr val="14B8A6"/>
            </a:solidFill>
            <a:prstDash val="solid"/>
          </a:ln>
        </p:spPr>
      </p:sp>
      <p:sp>
        <p:nvSpPr>
          <p:cNvPr id="26" name="Text 23"/>
          <p:cNvSpPr txBox="1"/>
          <p:nvPr/>
        </p:nvSpPr>
        <p:spPr>
          <a:xfrm>
            <a:off x="3489960" y="315468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5. Help teamwork</a:t>
            </a:r>
            <a:endParaRPr lang="en-US" sz="1500" dirty="0"/>
          </a:p>
        </p:txBody>
      </p:sp>
      <p:sp>
        <p:nvSpPr>
          <p:cNvPr id="27" name="Text 24"/>
          <p:cNvSpPr txBox="1"/>
          <p:nvPr/>
        </p:nvSpPr>
        <p:spPr>
          <a:xfrm>
            <a:off x="3489960" y="3483864"/>
            <a:ext cx="2255520" cy="11247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Let coaches, physiotherapists and admins work together with the right access for each.</a:t>
            </a:r>
            <a:endParaRPr lang="en-US" sz="1250" dirty="0"/>
          </a:p>
        </p:txBody>
      </p:sp>
      <p:sp>
        <p:nvSpPr>
          <p:cNvPr id="28" name="Shape 25"/>
          <p:cNvSpPr/>
          <p:nvPr/>
        </p:nvSpPr>
        <p:spPr>
          <a:xfrm>
            <a:off x="6065520" y="3063240"/>
            <a:ext cx="2529840" cy="1600200"/>
          </a:xfrm>
          <a:prstGeom prst="rect">
            <a:avLst/>
          </a:prstGeom>
          <a:solidFill>
            <a:srgbClr val="FFFFFF"/>
          </a:solidFill>
          <a:ln w="12700">
            <a:solidFill>
              <a:srgbClr val="E2E8F0"/>
            </a:solidFill>
            <a:prstDash val="solid"/>
          </a:ln>
        </p:spPr>
      </p:sp>
      <p:sp>
        <p:nvSpPr>
          <p:cNvPr id="29" name="Shape 26"/>
          <p:cNvSpPr/>
          <p:nvPr/>
        </p:nvSpPr>
        <p:spPr>
          <a:xfrm>
            <a:off x="6065520" y="3063240"/>
            <a:ext cx="64008" cy="1600200"/>
          </a:xfrm>
          <a:prstGeom prst="rect">
            <a:avLst/>
          </a:prstGeom>
          <a:solidFill>
            <a:srgbClr val="14B8A6"/>
          </a:solidFill>
          <a:ln w="12700">
            <a:solidFill>
              <a:srgbClr val="14B8A6"/>
            </a:solidFill>
            <a:prstDash val="solid"/>
          </a:ln>
        </p:spPr>
      </p:sp>
      <p:sp>
        <p:nvSpPr>
          <p:cNvPr id="30" name="Text 27"/>
          <p:cNvSpPr txBox="1"/>
          <p:nvPr/>
        </p:nvSpPr>
        <p:spPr>
          <a:xfrm>
            <a:off x="6248400" y="315468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6. Give clear reports</a:t>
            </a:r>
            <a:endParaRPr lang="en-US" sz="1500" dirty="0"/>
          </a:p>
        </p:txBody>
      </p:sp>
      <p:sp>
        <p:nvSpPr>
          <p:cNvPr id="31" name="Text 28"/>
          <p:cNvSpPr txBox="1"/>
          <p:nvPr/>
        </p:nvSpPr>
        <p:spPr>
          <a:xfrm>
            <a:off x="6248400" y="3483864"/>
            <a:ext cx="2255520" cy="11247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Show charts and reports that can be printed or saved as a file.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Technologies Used</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212080" cy="3182112"/>
        </p:xfrm>
        <a:graphic>
          <a:graphicData uri="http://schemas.openxmlformats.org/drawingml/2006/table">
            <a:tbl>
              <a:tblPr/>
              <a:tblGrid>
                <a:gridCol w="17373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53035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7C86"/>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Used for</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530352">
                <a:tc>
                  <a:txBody>
                    <a:bodyPr/>
                    <a:lstStyle/>
                    <a:p>
                      <a:pPr marL="0" indent="0">
                        <a:buNone/>
                      </a:pPr>
                      <a:r>
                        <a:rPr lang="en-US" sz="1250" b="1" dirty="0">
                          <a:solidFill>
                            <a:srgbClr val="1B2A41"/>
                          </a:solidFill>
                          <a:latin typeface="Calibri" pitchFamily="34" charset="0"/>
                          <a:ea typeface="Calibri" pitchFamily="34" charset="-122"/>
                          <a:cs typeface="Calibri" pitchFamily="34" charset="-120"/>
                        </a:rPr>
                        <a:t>HTML5</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1"/>
                          </a:solidFill>
                          <a:latin typeface="Calibri" pitchFamily="34" charset="0"/>
                          <a:ea typeface="Calibri" pitchFamily="34" charset="-122"/>
                          <a:cs typeface="Calibri" pitchFamily="34" charset="-120"/>
                        </a:rPr>
                        <a:t>Page structure: login, forms, tables and pop-up windows</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50" b="1" dirty="0">
                          <a:solidFill>
                            <a:srgbClr val="1B2A41"/>
                          </a:solidFill>
                          <a:latin typeface="Calibri" pitchFamily="34" charset="0"/>
                          <a:ea typeface="Calibri" pitchFamily="34" charset="-122"/>
                          <a:cs typeface="Calibri" pitchFamily="34" charset="-120"/>
                        </a:rPr>
                        <a:t>CSS3</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1"/>
                          </a:solidFill>
                          <a:latin typeface="Calibri" pitchFamily="34" charset="0"/>
                          <a:ea typeface="Calibri" pitchFamily="34" charset="-122"/>
                          <a:cs typeface="Calibri" pitchFamily="34" charset="-120"/>
                        </a:rPr>
                        <a:t>Colours, layout, dark mode and the charts</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50" b="1" dirty="0">
                          <a:solidFill>
                            <a:srgbClr val="1B2A41"/>
                          </a:solidFill>
                          <a:latin typeface="Calibri" pitchFamily="34" charset="0"/>
                          <a:ea typeface="Calibri" pitchFamily="34" charset="-122"/>
                          <a:cs typeface="Calibri" pitchFamily="34" charset="-120"/>
                        </a:rPr>
                        <a:t>JavaScript</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1"/>
                          </a:solidFill>
                          <a:latin typeface="Calibri" pitchFamily="34" charset="0"/>
                          <a:ea typeface="Calibri" pitchFamily="34" charset="-122"/>
                          <a:cs typeface="Calibri" pitchFamily="34" charset="-120"/>
                        </a:rPr>
                        <a:t>Working logic: roles, checks, reminders and reports</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50" b="1" dirty="0">
                          <a:solidFill>
                            <a:srgbClr val="1B2A41"/>
                          </a:solidFill>
                          <a:latin typeface="Calibri" pitchFamily="34" charset="0"/>
                          <a:ea typeface="Calibri" pitchFamily="34" charset="-122"/>
                          <a:cs typeface="Calibri" pitchFamily="34" charset="-120"/>
                        </a:rPr>
                        <a:t>Local storage</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1"/>
                          </a:solidFill>
                          <a:latin typeface="Calibri" pitchFamily="34" charset="0"/>
                          <a:ea typeface="Calibri" pitchFamily="34" charset="-122"/>
                          <a:cs typeface="Calibri" pitchFamily="34" charset="-120"/>
                        </a:rPr>
                        <a:t>Saves all records inside the browser</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250" b="1" dirty="0">
                          <a:solidFill>
                            <a:srgbClr val="1B2A41"/>
                          </a:solidFill>
                          <a:latin typeface="Calibri" pitchFamily="34" charset="0"/>
                          <a:ea typeface="Calibri" pitchFamily="34" charset="-122"/>
                          <a:cs typeface="Calibri" pitchFamily="34" charset="-120"/>
                        </a:rPr>
                        <a:t>VS Code + Live Server</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50" dirty="0">
                          <a:solidFill>
                            <a:srgbClr val="1B2A41"/>
                          </a:solidFill>
                          <a:latin typeface="Calibri" pitchFamily="34" charset="0"/>
                          <a:ea typeface="Calibri" pitchFamily="34" charset="-122"/>
                          <a:cs typeface="Calibri" pitchFamily="34" charset="-120"/>
                        </a:rPr>
                        <a:t>Writing the code and testing it</a:t>
                      </a:r>
                      <a:endParaRPr lang="en-US" sz="125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6900984" y="2266188"/>
            <a:ext cx="1219201" cy="1051306"/>
          </a:xfrm>
          <a:prstGeom prst="rect">
            <a:avLst/>
          </a:prstGeom>
          <a:solidFill>
            <a:schemeClr val="bg1"/>
          </a:solidFill>
          <a:ln w="12700">
            <a:solidFill>
              <a:srgbClr val="0B3C49"/>
            </a:solidFill>
            <a:prstDash val="solid"/>
          </a:ln>
        </p:spPr>
        <p:txBody>
          <a:bodyPr/>
          <a:lstStyle/>
          <a:p>
            <a:endParaRPr lang="en-IN" dirty="0"/>
          </a:p>
          <a:p>
            <a:r>
              <a:rPr lang="en-IN" dirty="0" err="1"/>
              <a:t>sportscare</a:t>
            </a:r>
            <a:endParaRPr lang="en-IN" dirty="0"/>
          </a:p>
        </p:txBody>
      </p:sp>
      <p:sp>
        <p:nvSpPr>
          <p:cNvPr id="10" name="Text 6"/>
          <p:cNvSpPr txBox="1"/>
          <p:nvPr/>
        </p:nvSpPr>
        <p:spPr>
          <a:xfrm flipV="1">
            <a:off x="6424246" y="3756406"/>
            <a:ext cx="2300849" cy="104140"/>
          </a:xfrm>
          <a:prstGeom prst="rect">
            <a:avLst/>
          </a:prstGeom>
          <a:noFill/>
          <a:ln/>
        </p:spPr>
        <p:txBody>
          <a:bodyPr wrap="square" lIns="0" tIns="0" rIns="0" bIns="0" rtlCol="0" anchor="t"/>
          <a:lstStyle/>
          <a:p>
            <a:pPr marL="0" indent="0">
              <a:spcAft>
                <a:spcPts val="800"/>
              </a:spcAft>
              <a:buNone/>
            </a:pP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7</a:t>
            </a:r>
            <a:endParaRPr lang="en-US" sz="1100" dirty="0"/>
          </a:p>
        </p:txBody>
      </p:sp>
      <p:sp>
        <p:nvSpPr>
          <p:cNvPr id="8" name="Shape 5"/>
          <p:cNvSpPr/>
          <p:nvPr/>
        </p:nvSpPr>
        <p:spPr>
          <a:xfrm>
            <a:off x="548640" y="1234440"/>
            <a:ext cx="2377440" cy="384048"/>
          </a:xfrm>
          <a:prstGeom prst="roundRect">
            <a:avLst>
              <a:gd name="adj" fmla="val 23810"/>
            </a:avLst>
          </a:prstGeom>
          <a:solidFill>
            <a:srgbClr val="CCFBF1"/>
          </a:solidFill>
          <a:ln w="12700">
            <a:solidFill>
              <a:srgbClr val="14B8A6"/>
            </a:solidFill>
            <a:prstDash val="solid"/>
          </a:ln>
        </p:spPr>
      </p:sp>
      <p:sp>
        <p:nvSpPr>
          <p:cNvPr id="9" name="Text 6"/>
          <p:cNvSpPr txBox="1"/>
          <p:nvPr/>
        </p:nvSpPr>
        <p:spPr>
          <a:xfrm>
            <a:off x="548640" y="1234440"/>
            <a:ext cx="2377440" cy="384048"/>
          </a:xfrm>
          <a:prstGeom prst="rect">
            <a:avLst/>
          </a:prstGeom>
          <a:noFill/>
          <a:ln/>
        </p:spPr>
        <p:txBody>
          <a:bodyPr wrap="square" lIns="0" tIns="0" rIns="0" bIns="0" rtlCol="0" anchor="ctr"/>
          <a:lstStyle/>
          <a:p>
            <a:pPr marL="0" indent="0" algn="ctr">
              <a:buNone/>
            </a:pPr>
            <a:r>
              <a:rPr lang="en-US" sz="1300" b="1" dirty="0">
                <a:solidFill>
                  <a:srgbClr val="0B3C49"/>
                </a:solidFill>
                <a:latin typeface="Calibri" pitchFamily="34" charset="0"/>
                <a:ea typeface="Calibri" pitchFamily="34" charset="-122"/>
                <a:cs typeface="Calibri" pitchFamily="34" charset="-120"/>
              </a:rPr>
              <a:t>Admin</a:t>
            </a:r>
            <a:endParaRPr lang="en-US" sz="1300" dirty="0"/>
          </a:p>
        </p:txBody>
      </p:sp>
      <p:sp>
        <p:nvSpPr>
          <p:cNvPr id="10" name="Shape 7"/>
          <p:cNvSpPr/>
          <p:nvPr/>
        </p:nvSpPr>
        <p:spPr>
          <a:xfrm>
            <a:off x="3383280" y="1234440"/>
            <a:ext cx="2377440" cy="384048"/>
          </a:xfrm>
          <a:prstGeom prst="roundRect">
            <a:avLst>
              <a:gd name="adj" fmla="val 23810"/>
            </a:avLst>
          </a:prstGeom>
          <a:solidFill>
            <a:srgbClr val="CCFBF1"/>
          </a:solidFill>
          <a:ln w="12700">
            <a:solidFill>
              <a:srgbClr val="14B8A6"/>
            </a:solidFill>
            <a:prstDash val="solid"/>
          </a:ln>
        </p:spPr>
      </p:sp>
      <p:sp>
        <p:nvSpPr>
          <p:cNvPr id="11" name="Text 8"/>
          <p:cNvSpPr txBox="1"/>
          <p:nvPr/>
        </p:nvSpPr>
        <p:spPr>
          <a:xfrm>
            <a:off x="3383280" y="1234440"/>
            <a:ext cx="2377440" cy="384048"/>
          </a:xfrm>
          <a:prstGeom prst="rect">
            <a:avLst/>
          </a:prstGeom>
          <a:noFill/>
          <a:ln/>
        </p:spPr>
        <p:txBody>
          <a:bodyPr wrap="square" lIns="0" tIns="0" rIns="0" bIns="0" rtlCol="0" anchor="ctr"/>
          <a:lstStyle/>
          <a:p>
            <a:pPr marL="0" indent="0" algn="ctr">
              <a:buNone/>
            </a:pPr>
            <a:r>
              <a:rPr lang="en-US" sz="1300" b="1" dirty="0">
                <a:solidFill>
                  <a:srgbClr val="0B3C49"/>
                </a:solidFill>
                <a:latin typeface="Calibri" pitchFamily="34" charset="0"/>
                <a:ea typeface="Calibri" pitchFamily="34" charset="-122"/>
                <a:cs typeface="Calibri" pitchFamily="34" charset="-120"/>
              </a:rPr>
              <a:t>Coach</a:t>
            </a:r>
            <a:endParaRPr lang="en-US" sz="1300" dirty="0"/>
          </a:p>
        </p:txBody>
      </p:sp>
      <p:sp>
        <p:nvSpPr>
          <p:cNvPr id="12" name="Shape 9"/>
          <p:cNvSpPr/>
          <p:nvPr/>
        </p:nvSpPr>
        <p:spPr>
          <a:xfrm>
            <a:off x="6217920" y="1234440"/>
            <a:ext cx="2377440" cy="384048"/>
          </a:xfrm>
          <a:prstGeom prst="roundRect">
            <a:avLst>
              <a:gd name="adj" fmla="val 23810"/>
            </a:avLst>
          </a:prstGeom>
          <a:solidFill>
            <a:srgbClr val="CCFBF1"/>
          </a:solidFill>
          <a:ln w="12700">
            <a:solidFill>
              <a:srgbClr val="14B8A6"/>
            </a:solidFill>
            <a:prstDash val="solid"/>
          </a:ln>
        </p:spPr>
      </p:sp>
      <p:sp>
        <p:nvSpPr>
          <p:cNvPr id="13" name="Text 10"/>
          <p:cNvSpPr txBox="1"/>
          <p:nvPr/>
        </p:nvSpPr>
        <p:spPr>
          <a:xfrm>
            <a:off x="6217920" y="1234440"/>
            <a:ext cx="2377440" cy="384048"/>
          </a:xfrm>
          <a:prstGeom prst="rect">
            <a:avLst/>
          </a:prstGeom>
          <a:noFill/>
          <a:ln/>
        </p:spPr>
        <p:txBody>
          <a:bodyPr wrap="square" lIns="0" tIns="0" rIns="0" bIns="0" rtlCol="0" anchor="ctr"/>
          <a:lstStyle/>
          <a:p>
            <a:pPr marL="0" indent="0" algn="ctr">
              <a:buNone/>
            </a:pPr>
            <a:r>
              <a:rPr lang="en-US" sz="1300" b="1" dirty="0">
                <a:solidFill>
                  <a:srgbClr val="0B3C49"/>
                </a:solidFill>
                <a:latin typeface="Calibri" pitchFamily="34" charset="0"/>
                <a:ea typeface="Calibri" pitchFamily="34" charset="-122"/>
                <a:cs typeface="Calibri" pitchFamily="34" charset="-120"/>
              </a:rPr>
              <a:t>Physiotherapist</a:t>
            </a:r>
            <a:endParaRPr lang="en-US" sz="1300" dirty="0"/>
          </a:p>
        </p:txBody>
      </p:sp>
      <p:sp>
        <p:nvSpPr>
          <p:cNvPr id="14" name="Shape 11"/>
          <p:cNvSpPr/>
          <p:nvPr/>
        </p:nvSpPr>
        <p:spPr>
          <a:xfrm>
            <a:off x="548640" y="1828800"/>
            <a:ext cx="2377440" cy="1508760"/>
          </a:xfrm>
          <a:prstGeom prst="rect">
            <a:avLst/>
          </a:prstGeom>
          <a:solidFill>
            <a:srgbClr val="FFFFFF"/>
          </a:solidFill>
          <a:ln w="12700">
            <a:solidFill>
              <a:srgbClr val="14B8A6"/>
            </a:solidFill>
            <a:prstDash val="solid"/>
          </a:ln>
        </p:spPr>
      </p:sp>
      <p:sp>
        <p:nvSpPr>
          <p:cNvPr id="15" name="Text 12"/>
          <p:cNvSpPr txBox="1"/>
          <p:nvPr/>
        </p:nvSpPr>
        <p:spPr>
          <a:xfrm>
            <a:off x="685800" y="1920240"/>
            <a:ext cx="2103120" cy="1371600"/>
          </a:xfrm>
          <a:prstGeom prst="rect">
            <a:avLst/>
          </a:prstGeom>
          <a:noFill/>
          <a:ln/>
        </p:spPr>
        <p:txBody>
          <a:bodyPr wrap="square" lIns="0" tIns="0" rIns="0" bIns="0" rtlCol="0" anchor="t"/>
          <a:lstStyle/>
          <a:p>
            <a:pPr marL="0" indent="0">
              <a:spcAft>
                <a:spcPts val="500"/>
              </a:spcAft>
              <a:buNone/>
            </a:pPr>
            <a:r>
              <a:rPr lang="en-US" sz="1500" b="1" dirty="0">
                <a:solidFill>
                  <a:srgbClr val="1B2A41"/>
                </a:solidFill>
                <a:latin typeface="Calibri" pitchFamily="34" charset="0"/>
                <a:ea typeface="Calibri" pitchFamily="34" charset="-122"/>
                <a:cs typeface="Calibri" pitchFamily="34" charset="-120"/>
              </a:rPr>
              <a:t>Presentation layer</a:t>
            </a:r>
            <a:endParaRPr lang="en-US" sz="1500" dirty="0"/>
          </a:p>
          <a:p>
            <a:pPr marL="0" indent="0">
              <a:spcAft>
                <a:spcPts val="500"/>
              </a:spcAft>
              <a:buNone/>
            </a:pPr>
            <a:r>
              <a:rPr lang="en-US" sz="1200" dirty="0">
                <a:solidFill>
                  <a:srgbClr val="1B2A41"/>
                </a:solidFill>
                <a:latin typeface="Calibri" pitchFamily="34" charset="0"/>
                <a:ea typeface="Calibri" pitchFamily="34" charset="-122"/>
                <a:cs typeface="Calibri" pitchFamily="34" charset="-120"/>
              </a:rPr>
              <a:t>HTML and CSS. Login page, sidebar, forms, tables, charts and pop-ups.</a:t>
            </a:r>
            <a:endParaRPr lang="en-US" sz="1500" dirty="0"/>
          </a:p>
        </p:txBody>
      </p:sp>
      <p:sp>
        <p:nvSpPr>
          <p:cNvPr id="16" name="Text 13"/>
          <p:cNvSpPr txBox="1"/>
          <p:nvPr/>
        </p:nvSpPr>
        <p:spPr>
          <a:xfrm>
            <a:off x="2926080" y="2286000"/>
            <a:ext cx="457200" cy="457200"/>
          </a:xfrm>
          <a:prstGeom prst="rect">
            <a:avLst/>
          </a:prstGeom>
          <a:noFill/>
          <a:ln/>
        </p:spPr>
        <p:txBody>
          <a:bodyPr wrap="square" lIns="0" tIns="0" rIns="0" bIns="0" rtlCol="0" anchor="ctr"/>
          <a:lstStyle/>
          <a:p>
            <a:pPr marL="0" indent="0" algn="ctr">
              <a:buNone/>
            </a:pPr>
            <a:r>
              <a:rPr lang="en-US" sz="2200" dirty="0">
                <a:solidFill>
                  <a:srgbClr val="0E7C86"/>
                </a:solidFill>
                <a:latin typeface="Calibri" pitchFamily="34" charset="0"/>
                <a:ea typeface="Calibri" pitchFamily="34" charset="-122"/>
                <a:cs typeface="Calibri" pitchFamily="34" charset="-120"/>
              </a:rPr>
              <a:t>↔</a:t>
            </a:r>
            <a:endParaRPr lang="en-US" sz="2200" dirty="0"/>
          </a:p>
        </p:txBody>
      </p:sp>
      <p:sp>
        <p:nvSpPr>
          <p:cNvPr id="17" name="Shape 14"/>
          <p:cNvSpPr/>
          <p:nvPr/>
        </p:nvSpPr>
        <p:spPr>
          <a:xfrm>
            <a:off x="3383280" y="1828800"/>
            <a:ext cx="2377440" cy="1508760"/>
          </a:xfrm>
          <a:prstGeom prst="rect">
            <a:avLst/>
          </a:prstGeom>
          <a:solidFill>
            <a:srgbClr val="0E7C86"/>
          </a:solidFill>
          <a:ln w="12700">
            <a:solidFill>
              <a:srgbClr val="14B8A6"/>
            </a:solidFill>
            <a:prstDash val="solid"/>
          </a:ln>
        </p:spPr>
      </p:sp>
      <p:sp>
        <p:nvSpPr>
          <p:cNvPr id="18" name="Text 15"/>
          <p:cNvSpPr txBox="1"/>
          <p:nvPr/>
        </p:nvSpPr>
        <p:spPr>
          <a:xfrm>
            <a:off x="3520440" y="1920240"/>
            <a:ext cx="2103120" cy="1371600"/>
          </a:xfrm>
          <a:prstGeom prst="rect">
            <a:avLst/>
          </a:prstGeom>
          <a:noFill/>
          <a:ln/>
        </p:spPr>
        <p:txBody>
          <a:bodyPr wrap="square" lIns="0" tIns="0" rIns="0" bIns="0" rtlCol="0" anchor="t"/>
          <a:lstStyle/>
          <a:p>
            <a:pPr marL="0" indent="0">
              <a:spcAft>
                <a:spcPts val="500"/>
              </a:spcAft>
              <a:buNone/>
            </a:pPr>
            <a:r>
              <a:rPr lang="en-US" sz="1500" b="1" dirty="0">
                <a:solidFill>
                  <a:srgbClr val="FFFFFF"/>
                </a:solidFill>
                <a:latin typeface="Calibri" pitchFamily="34" charset="0"/>
                <a:ea typeface="Calibri" pitchFamily="34" charset="-122"/>
                <a:cs typeface="Calibri" pitchFamily="34" charset="-120"/>
              </a:rPr>
              <a:t>Logic layer</a:t>
            </a:r>
            <a:endParaRPr lang="en-US" sz="1500" dirty="0"/>
          </a:p>
          <a:p>
            <a:pPr marL="0" indent="0">
              <a:spcAft>
                <a:spcPts val="500"/>
              </a:spcAft>
              <a:buNone/>
            </a:pPr>
            <a:r>
              <a:rPr lang="en-US" sz="1200" dirty="0">
                <a:solidFill>
                  <a:srgbClr val="FFFFFF"/>
                </a:solidFill>
                <a:latin typeface="Calibri" pitchFamily="34" charset="0"/>
                <a:ea typeface="Calibri" pitchFamily="34" charset="-122"/>
                <a:cs typeface="Calibri" pitchFamily="34" charset="-120"/>
              </a:rPr>
              <a:t>JavaScript. Role checks, validation, reminders, reports and clearance rules.</a:t>
            </a:r>
            <a:endParaRPr lang="en-US" sz="1500" dirty="0"/>
          </a:p>
        </p:txBody>
      </p:sp>
      <p:sp>
        <p:nvSpPr>
          <p:cNvPr id="19" name="Text 16"/>
          <p:cNvSpPr txBox="1"/>
          <p:nvPr/>
        </p:nvSpPr>
        <p:spPr>
          <a:xfrm>
            <a:off x="5760720" y="2286000"/>
            <a:ext cx="457200" cy="457200"/>
          </a:xfrm>
          <a:prstGeom prst="rect">
            <a:avLst/>
          </a:prstGeom>
          <a:noFill/>
          <a:ln/>
        </p:spPr>
        <p:txBody>
          <a:bodyPr wrap="square" lIns="0" tIns="0" rIns="0" bIns="0" rtlCol="0" anchor="ctr"/>
          <a:lstStyle/>
          <a:p>
            <a:pPr marL="0" indent="0" algn="ctr">
              <a:buNone/>
            </a:pPr>
            <a:r>
              <a:rPr lang="en-US" sz="2200" dirty="0">
                <a:solidFill>
                  <a:srgbClr val="0E7C86"/>
                </a:solidFill>
                <a:latin typeface="Calibri" pitchFamily="34" charset="0"/>
                <a:ea typeface="Calibri" pitchFamily="34" charset="-122"/>
                <a:cs typeface="Calibri" pitchFamily="34" charset="-120"/>
              </a:rPr>
              <a:t>↔</a:t>
            </a:r>
            <a:endParaRPr lang="en-US" sz="2200" dirty="0"/>
          </a:p>
        </p:txBody>
      </p:sp>
      <p:sp>
        <p:nvSpPr>
          <p:cNvPr id="20" name="Shape 17"/>
          <p:cNvSpPr/>
          <p:nvPr/>
        </p:nvSpPr>
        <p:spPr>
          <a:xfrm>
            <a:off x="6217920" y="1828800"/>
            <a:ext cx="2377440" cy="1508760"/>
          </a:xfrm>
          <a:prstGeom prst="rect">
            <a:avLst/>
          </a:prstGeom>
          <a:solidFill>
            <a:srgbClr val="FFFFFF"/>
          </a:solidFill>
          <a:ln w="12700">
            <a:solidFill>
              <a:srgbClr val="14B8A6"/>
            </a:solidFill>
            <a:prstDash val="solid"/>
          </a:ln>
        </p:spPr>
      </p:sp>
      <p:sp>
        <p:nvSpPr>
          <p:cNvPr id="21" name="Text 18"/>
          <p:cNvSpPr txBox="1"/>
          <p:nvPr/>
        </p:nvSpPr>
        <p:spPr>
          <a:xfrm>
            <a:off x="6355080" y="1920240"/>
            <a:ext cx="2103120" cy="1371600"/>
          </a:xfrm>
          <a:prstGeom prst="rect">
            <a:avLst/>
          </a:prstGeom>
          <a:noFill/>
          <a:ln/>
        </p:spPr>
        <p:txBody>
          <a:bodyPr wrap="square" lIns="0" tIns="0" rIns="0" bIns="0" rtlCol="0" anchor="t"/>
          <a:lstStyle/>
          <a:p>
            <a:pPr marL="0" indent="0">
              <a:spcAft>
                <a:spcPts val="500"/>
              </a:spcAft>
              <a:buNone/>
            </a:pPr>
            <a:r>
              <a:rPr lang="en-US" sz="1500" b="1" dirty="0">
                <a:solidFill>
                  <a:srgbClr val="1B2A41"/>
                </a:solidFill>
                <a:latin typeface="Calibri" pitchFamily="34" charset="0"/>
                <a:ea typeface="Calibri" pitchFamily="34" charset="-122"/>
                <a:cs typeface="Calibri" pitchFamily="34" charset="-120"/>
              </a:rPr>
              <a:t>Data layer</a:t>
            </a:r>
            <a:endParaRPr lang="en-US" sz="1500" dirty="0"/>
          </a:p>
          <a:p>
            <a:pPr marL="0" indent="0">
              <a:spcAft>
                <a:spcPts val="500"/>
              </a:spcAft>
              <a:buNone/>
            </a:pPr>
            <a:r>
              <a:rPr lang="en-US" sz="1200" dirty="0">
                <a:solidFill>
                  <a:srgbClr val="1B2A41"/>
                </a:solidFill>
                <a:latin typeface="Calibri" pitchFamily="34" charset="0"/>
                <a:ea typeface="Calibri" pitchFamily="34" charset="-122"/>
                <a:cs typeface="Calibri" pitchFamily="34" charset="-120"/>
              </a:rPr>
              <a:t>Local storage. Athletes, injuries, plans, assessments and appointments.</a:t>
            </a:r>
            <a:endParaRPr lang="en-US" sz="1500" dirty="0"/>
          </a:p>
        </p:txBody>
      </p:sp>
      <p:sp>
        <p:nvSpPr>
          <p:cNvPr id="22" name="Text 19"/>
          <p:cNvSpPr txBox="1"/>
          <p:nvPr/>
        </p:nvSpPr>
        <p:spPr>
          <a:xfrm>
            <a:off x="548640" y="3566160"/>
            <a:ext cx="8046720" cy="274320"/>
          </a:xfrm>
          <a:prstGeom prst="rect">
            <a:avLst/>
          </a:prstGeom>
          <a:noFill/>
          <a:ln/>
        </p:spPr>
        <p:txBody>
          <a:bodyPr wrap="square" lIns="0" tIns="0" rIns="0" bIns="0" rtlCol="0" anchor="ctr"/>
          <a:lstStyle/>
          <a:p>
            <a:pPr marL="0" indent="0">
              <a:buNone/>
            </a:pPr>
            <a:r>
              <a:rPr lang="en-US" sz="1300" b="1" dirty="0">
                <a:solidFill>
                  <a:srgbClr val="0B3C49"/>
                </a:solidFill>
                <a:latin typeface="Calibri" pitchFamily="34" charset="0"/>
                <a:ea typeface="Calibri" pitchFamily="34" charset="-122"/>
                <a:cs typeface="Calibri" pitchFamily="34" charset="-120"/>
              </a:rPr>
              <a:t>How one action flows through the system</a:t>
            </a:r>
            <a:endParaRPr lang="en-US" sz="1300" dirty="0"/>
          </a:p>
        </p:txBody>
      </p:sp>
      <p:sp>
        <p:nvSpPr>
          <p:cNvPr id="23" name="Shape 20"/>
          <p:cNvSpPr/>
          <p:nvPr/>
        </p:nvSpPr>
        <p:spPr>
          <a:xfrm>
            <a:off x="548640" y="3931920"/>
            <a:ext cx="1463040" cy="548640"/>
          </a:xfrm>
          <a:prstGeom prst="rect">
            <a:avLst/>
          </a:prstGeom>
          <a:solidFill>
            <a:srgbClr val="0E7C86"/>
          </a:solidFill>
          <a:ln w="12700">
            <a:solidFill>
              <a:srgbClr val="14B8A6"/>
            </a:solidFill>
            <a:prstDash val="solid"/>
          </a:ln>
        </p:spPr>
      </p:sp>
      <p:sp>
        <p:nvSpPr>
          <p:cNvPr id="24" name="Text 21"/>
          <p:cNvSpPr txBox="1"/>
          <p:nvPr/>
        </p:nvSpPr>
        <p:spPr>
          <a:xfrm>
            <a:off x="548640" y="3931920"/>
            <a:ext cx="14630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User clicks</a:t>
            </a:r>
            <a:endParaRPr lang="en-US" sz="1200" dirty="0"/>
          </a:p>
        </p:txBody>
      </p:sp>
      <p:sp>
        <p:nvSpPr>
          <p:cNvPr id="25" name="Shape 22"/>
          <p:cNvSpPr/>
          <p:nvPr/>
        </p:nvSpPr>
        <p:spPr>
          <a:xfrm>
            <a:off x="2194560" y="3931920"/>
            <a:ext cx="1463040" cy="548640"/>
          </a:xfrm>
          <a:prstGeom prst="rect">
            <a:avLst/>
          </a:prstGeom>
          <a:solidFill>
            <a:srgbClr val="14B8A6"/>
          </a:solidFill>
          <a:ln w="12700">
            <a:solidFill>
              <a:srgbClr val="14B8A6"/>
            </a:solidFill>
            <a:prstDash val="solid"/>
          </a:ln>
        </p:spPr>
      </p:sp>
      <p:sp>
        <p:nvSpPr>
          <p:cNvPr id="26" name="Text 23"/>
          <p:cNvSpPr txBox="1"/>
          <p:nvPr/>
        </p:nvSpPr>
        <p:spPr>
          <a:xfrm>
            <a:off x="2194560" y="3931920"/>
            <a:ext cx="14630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Role is checked</a:t>
            </a:r>
            <a:endParaRPr lang="en-US" sz="1200" dirty="0"/>
          </a:p>
        </p:txBody>
      </p:sp>
      <p:sp>
        <p:nvSpPr>
          <p:cNvPr id="27" name="Shape 24"/>
          <p:cNvSpPr/>
          <p:nvPr/>
        </p:nvSpPr>
        <p:spPr>
          <a:xfrm>
            <a:off x="3840480" y="3931920"/>
            <a:ext cx="1463040" cy="548640"/>
          </a:xfrm>
          <a:prstGeom prst="rect">
            <a:avLst/>
          </a:prstGeom>
          <a:solidFill>
            <a:srgbClr val="0E7C86"/>
          </a:solidFill>
          <a:ln w="12700">
            <a:solidFill>
              <a:srgbClr val="14B8A6"/>
            </a:solidFill>
            <a:prstDash val="solid"/>
          </a:ln>
        </p:spPr>
      </p:sp>
      <p:sp>
        <p:nvSpPr>
          <p:cNvPr id="28" name="Text 25"/>
          <p:cNvSpPr txBox="1"/>
          <p:nvPr/>
        </p:nvSpPr>
        <p:spPr>
          <a:xfrm>
            <a:off x="3840480" y="3931920"/>
            <a:ext cx="14630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Data is updated</a:t>
            </a:r>
            <a:endParaRPr lang="en-US" sz="1200" dirty="0"/>
          </a:p>
        </p:txBody>
      </p:sp>
      <p:sp>
        <p:nvSpPr>
          <p:cNvPr id="29" name="Shape 26"/>
          <p:cNvSpPr/>
          <p:nvPr/>
        </p:nvSpPr>
        <p:spPr>
          <a:xfrm>
            <a:off x="5486400" y="3931920"/>
            <a:ext cx="1463040" cy="548640"/>
          </a:xfrm>
          <a:prstGeom prst="rect">
            <a:avLst/>
          </a:prstGeom>
          <a:solidFill>
            <a:srgbClr val="14B8A6"/>
          </a:solidFill>
          <a:ln w="12700">
            <a:solidFill>
              <a:srgbClr val="14B8A6"/>
            </a:solidFill>
            <a:prstDash val="solid"/>
          </a:ln>
        </p:spPr>
      </p:sp>
      <p:sp>
        <p:nvSpPr>
          <p:cNvPr id="30" name="Text 27"/>
          <p:cNvSpPr txBox="1"/>
          <p:nvPr/>
        </p:nvSpPr>
        <p:spPr>
          <a:xfrm>
            <a:off x="5486400" y="3931920"/>
            <a:ext cx="14630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Saved in storage</a:t>
            </a:r>
            <a:endParaRPr lang="en-US" sz="1200" dirty="0"/>
          </a:p>
        </p:txBody>
      </p:sp>
      <p:sp>
        <p:nvSpPr>
          <p:cNvPr id="31" name="Shape 28"/>
          <p:cNvSpPr/>
          <p:nvPr/>
        </p:nvSpPr>
        <p:spPr>
          <a:xfrm>
            <a:off x="7132320" y="3931920"/>
            <a:ext cx="1463040" cy="548640"/>
          </a:xfrm>
          <a:prstGeom prst="rect">
            <a:avLst/>
          </a:prstGeom>
          <a:solidFill>
            <a:srgbClr val="0E7C86"/>
          </a:solidFill>
          <a:ln w="12700">
            <a:solidFill>
              <a:srgbClr val="14B8A6"/>
            </a:solidFill>
            <a:prstDash val="solid"/>
          </a:ln>
        </p:spPr>
      </p:sp>
      <p:sp>
        <p:nvSpPr>
          <p:cNvPr id="32" name="Text 29"/>
          <p:cNvSpPr txBox="1"/>
          <p:nvPr/>
        </p:nvSpPr>
        <p:spPr>
          <a:xfrm>
            <a:off x="7132320" y="3931920"/>
            <a:ext cx="14630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  Screen refreshes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Modules</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8</a:t>
            </a:r>
            <a:endParaRPr lang="en-US" sz="1100" dirty="0"/>
          </a:p>
        </p:txBody>
      </p:sp>
      <p:sp>
        <p:nvSpPr>
          <p:cNvPr id="8" name="Shape 5"/>
          <p:cNvSpPr/>
          <p:nvPr/>
        </p:nvSpPr>
        <p:spPr>
          <a:xfrm>
            <a:off x="548640" y="1280160"/>
            <a:ext cx="2529840" cy="914400"/>
          </a:xfrm>
          <a:prstGeom prst="rect">
            <a:avLst/>
          </a:prstGeom>
          <a:solidFill>
            <a:srgbClr val="FFFFFF"/>
          </a:solidFill>
          <a:ln w="12700">
            <a:solidFill>
              <a:srgbClr val="E2E8F0"/>
            </a:solidFill>
            <a:prstDash val="solid"/>
          </a:ln>
        </p:spPr>
      </p:sp>
      <p:sp>
        <p:nvSpPr>
          <p:cNvPr id="9" name="Shape 6"/>
          <p:cNvSpPr/>
          <p:nvPr/>
        </p:nvSpPr>
        <p:spPr>
          <a:xfrm>
            <a:off x="548640" y="1280160"/>
            <a:ext cx="64008" cy="914400"/>
          </a:xfrm>
          <a:prstGeom prst="rect">
            <a:avLst/>
          </a:prstGeom>
          <a:solidFill>
            <a:srgbClr val="14B8A6"/>
          </a:solidFill>
          <a:ln w="12700">
            <a:solidFill>
              <a:srgbClr val="14B8A6"/>
            </a:solidFill>
            <a:prstDash val="solid"/>
          </a:ln>
        </p:spPr>
      </p:sp>
      <p:sp>
        <p:nvSpPr>
          <p:cNvPr id="10" name="Text 7"/>
          <p:cNvSpPr txBox="1"/>
          <p:nvPr/>
        </p:nvSpPr>
        <p:spPr>
          <a:xfrm>
            <a:off x="731520" y="137160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Dashboard</a:t>
            </a:r>
            <a:endParaRPr lang="en-US" sz="1500" dirty="0"/>
          </a:p>
        </p:txBody>
      </p:sp>
      <p:sp>
        <p:nvSpPr>
          <p:cNvPr id="11" name="Text 8"/>
          <p:cNvSpPr txBox="1"/>
          <p:nvPr/>
        </p:nvSpPr>
        <p:spPr>
          <a:xfrm>
            <a:off x="731520" y="170078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Statistics, charts and reminders</a:t>
            </a:r>
            <a:endParaRPr lang="en-US" sz="1250" dirty="0"/>
          </a:p>
        </p:txBody>
      </p:sp>
      <p:sp>
        <p:nvSpPr>
          <p:cNvPr id="12" name="Shape 9"/>
          <p:cNvSpPr/>
          <p:nvPr/>
        </p:nvSpPr>
        <p:spPr>
          <a:xfrm>
            <a:off x="3307080" y="1280160"/>
            <a:ext cx="2529840" cy="914400"/>
          </a:xfrm>
          <a:prstGeom prst="rect">
            <a:avLst/>
          </a:prstGeom>
          <a:solidFill>
            <a:srgbClr val="FFFFFF"/>
          </a:solidFill>
          <a:ln w="12700">
            <a:solidFill>
              <a:srgbClr val="E2E8F0"/>
            </a:solidFill>
            <a:prstDash val="solid"/>
          </a:ln>
        </p:spPr>
      </p:sp>
      <p:sp>
        <p:nvSpPr>
          <p:cNvPr id="13" name="Shape 10"/>
          <p:cNvSpPr/>
          <p:nvPr/>
        </p:nvSpPr>
        <p:spPr>
          <a:xfrm>
            <a:off x="3307080" y="1280160"/>
            <a:ext cx="64008" cy="914400"/>
          </a:xfrm>
          <a:prstGeom prst="rect">
            <a:avLst/>
          </a:prstGeom>
          <a:solidFill>
            <a:srgbClr val="14B8A6"/>
          </a:solidFill>
          <a:ln w="12700">
            <a:solidFill>
              <a:srgbClr val="14B8A6"/>
            </a:solidFill>
            <a:prstDash val="solid"/>
          </a:ln>
        </p:spPr>
      </p:sp>
      <p:sp>
        <p:nvSpPr>
          <p:cNvPr id="14" name="Text 11"/>
          <p:cNvSpPr txBox="1"/>
          <p:nvPr/>
        </p:nvSpPr>
        <p:spPr>
          <a:xfrm>
            <a:off x="3489960" y="137160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Athletes</a:t>
            </a:r>
            <a:endParaRPr lang="en-US" sz="1500" dirty="0"/>
          </a:p>
        </p:txBody>
      </p:sp>
      <p:sp>
        <p:nvSpPr>
          <p:cNvPr id="15" name="Text 12"/>
          <p:cNvSpPr txBox="1"/>
          <p:nvPr/>
        </p:nvSpPr>
        <p:spPr>
          <a:xfrm>
            <a:off x="3489960" y="170078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Profiles and injury history</a:t>
            </a:r>
            <a:endParaRPr lang="en-US" sz="1250" dirty="0"/>
          </a:p>
        </p:txBody>
      </p:sp>
      <p:sp>
        <p:nvSpPr>
          <p:cNvPr id="16" name="Shape 13"/>
          <p:cNvSpPr/>
          <p:nvPr/>
        </p:nvSpPr>
        <p:spPr>
          <a:xfrm>
            <a:off x="6065520" y="1280160"/>
            <a:ext cx="2529840" cy="914400"/>
          </a:xfrm>
          <a:prstGeom prst="rect">
            <a:avLst/>
          </a:prstGeom>
          <a:solidFill>
            <a:srgbClr val="FFFFFF"/>
          </a:solidFill>
          <a:ln w="12700">
            <a:solidFill>
              <a:srgbClr val="E2E8F0"/>
            </a:solidFill>
            <a:prstDash val="solid"/>
          </a:ln>
        </p:spPr>
      </p:sp>
      <p:sp>
        <p:nvSpPr>
          <p:cNvPr id="17" name="Shape 14"/>
          <p:cNvSpPr/>
          <p:nvPr/>
        </p:nvSpPr>
        <p:spPr>
          <a:xfrm>
            <a:off x="6065520" y="1280160"/>
            <a:ext cx="64008" cy="914400"/>
          </a:xfrm>
          <a:prstGeom prst="rect">
            <a:avLst/>
          </a:prstGeom>
          <a:solidFill>
            <a:srgbClr val="14B8A6"/>
          </a:solidFill>
          <a:ln w="12700">
            <a:solidFill>
              <a:srgbClr val="14B8A6"/>
            </a:solidFill>
            <a:prstDash val="solid"/>
          </a:ln>
        </p:spPr>
      </p:sp>
      <p:sp>
        <p:nvSpPr>
          <p:cNvPr id="18" name="Text 15"/>
          <p:cNvSpPr txBox="1"/>
          <p:nvPr/>
        </p:nvSpPr>
        <p:spPr>
          <a:xfrm>
            <a:off x="6248400" y="137160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Injuries</a:t>
            </a:r>
            <a:endParaRPr lang="en-US" sz="1500" dirty="0"/>
          </a:p>
        </p:txBody>
      </p:sp>
      <p:sp>
        <p:nvSpPr>
          <p:cNvPr id="19" name="Text 16"/>
          <p:cNvSpPr txBox="1"/>
          <p:nvPr/>
        </p:nvSpPr>
        <p:spPr>
          <a:xfrm>
            <a:off x="6248400" y="170078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Complete injury records</a:t>
            </a:r>
            <a:endParaRPr lang="en-US" sz="1250" dirty="0"/>
          </a:p>
        </p:txBody>
      </p:sp>
      <p:sp>
        <p:nvSpPr>
          <p:cNvPr id="20" name="Shape 17"/>
          <p:cNvSpPr/>
          <p:nvPr/>
        </p:nvSpPr>
        <p:spPr>
          <a:xfrm>
            <a:off x="548640" y="2377440"/>
            <a:ext cx="2529840" cy="914400"/>
          </a:xfrm>
          <a:prstGeom prst="rect">
            <a:avLst/>
          </a:prstGeom>
          <a:solidFill>
            <a:srgbClr val="FFFFFF"/>
          </a:solidFill>
          <a:ln w="12700">
            <a:solidFill>
              <a:srgbClr val="E2E8F0"/>
            </a:solidFill>
            <a:prstDash val="solid"/>
          </a:ln>
        </p:spPr>
      </p:sp>
      <p:sp>
        <p:nvSpPr>
          <p:cNvPr id="21" name="Shape 18"/>
          <p:cNvSpPr/>
          <p:nvPr/>
        </p:nvSpPr>
        <p:spPr>
          <a:xfrm>
            <a:off x="548640" y="2377440"/>
            <a:ext cx="64008" cy="914400"/>
          </a:xfrm>
          <a:prstGeom prst="rect">
            <a:avLst/>
          </a:prstGeom>
          <a:solidFill>
            <a:srgbClr val="14B8A6"/>
          </a:solidFill>
          <a:ln w="12700">
            <a:solidFill>
              <a:srgbClr val="14B8A6"/>
            </a:solidFill>
            <a:prstDash val="solid"/>
          </a:ln>
        </p:spPr>
      </p:sp>
      <p:sp>
        <p:nvSpPr>
          <p:cNvPr id="22" name="Text 19"/>
          <p:cNvSpPr txBox="1"/>
          <p:nvPr/>
        </p:nvSpPr>
        <p:spPr>
          <a:xfrm>
            <a:off x="731520" y="246888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Rehabilitation</a:t>
            </a:r>
            <a:endParaRPr lang="en-US" sz="1500" dirty="0"/>
          </a:p>
        </p:txBody>
      </p:sp>
      <p:sp>
        <p:nvSpPr>
          <p:cNvPr id="23" name="Text 20"/>
          <p:cNvSpPr txBox="1"/>
          <p:nvPr/>
        </p:nvSpPr>
        <p:spPr>
          <a:xfrm>
            <a:off x="731520" y="279806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Plans and daily checklists</a:t>
            </a:r>
            <a:endParaRPr lang="en-US" sz="1250" dirty="0"/>
          </a:p>
        </p:txBody>
      </p:sp>
      <p:sp>
        <p:nvSpPr>
          <p:cNvPr id="24" name="Shape 21"/>
          <p:cNvSpPr/>
          <p:nvPr/>
        </p:nvSpPr>
        <p:spPr>
          <a:xfrm>
            <a:off x="3307080" y="2377440"/>
            <a:ext cx="2529840" cy="914400"/>
          </a:xfrm>
          <a:prstGeom prst="rect">
            <a:avLst/>
          </a:prstGeom>
          <a:solidFill>
            <a:srgbClr val="FFFFFF"/>
          </a:solidFill>
          <a:ln w="12700">
            <a:solidFill>
              <a:srgbClr val="E2E8F0"/>
            </a:solidFill>
            <a:prstDash val="solid"/>
          </a:ln>
        </p:spPr>
      </p:sp>
      <p:sp>
        <p:nvSpPr>
          <p:cNvPr id="25" name="Shape 22"/>
          <p:cNvSpPr/>
          <p:nvPr/>
        </p:nvSpPr>
        <p:spPr>
          <a:xfrm>
            <a:off x="3307080" y="2377440"/>
            <a:ext cx="64008" cy="914400"/>
          </a:xfrm>
          <a:prstGeom prst="rect">
            <a:avLst/>
          </a:prstGeom>
          <a:solidFill>
            <a:srgbClr val="14B8A6"/>
          </a:solidFill>
          <a:ln w="12700">
            <a:solidFill>
              <a:srgbClr val="14B8A6"/>
            </a:solidFill>
            <a:prstDash val="solid"/>
          </a:ln>
        </p:spPr>
      </p:sp>
      <p:sp>
        <p:nvSpPr>
          <p:cNvPr id="26" name="Text 23"/>
          <p:cNvSpPr txBox="1"/>
          <p:nvPr/>
        </p:nvSpPr>
        <p:spPr>
          <a:xfrm>
            <a:off x="3489960" y="246888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Treatment</a:t>
            </a:r>
            <a:endParaRPr lang="en-US" sz="1500" dirty="0"/>
          </a:p>
        </p:txBody>
      </p:sp>
      <p:sp>
        <p:nvSpPr>
          <p:cNvPr id="27" name="Text 24"/>
          <p:cNvSpPr txBox="1"/>
          <p:nvPr/>
        </p:nvSpPr>
        <p:spPr>
          <a:xfrm>
            <a:off x="3489960" y="279806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Plans and follow-up dates</a:t>
            </a:r>
            <a:endParaRPr lang="en-US" sz="1250" dirty="0"/>
          </a:p>
        </p:txBody>
      </p:sp>
      <p:sp>
        <p:nvSpPr>
          <p:cNvPr id="28" name="Shape 25"/>
          <p:cNvSpPr/>
          <p:nvPr/>
        </p:nvSpPr>
        <p:spPr>
          <a:xfrm>
            <a:off x="6065520" y="2377440"/>
            <a:ext cx="2529840" cy="914400"/>
          </a:xfrm>
          <a:prstGeom prst="rect">
            <a:avLst/>
          </a:prstGeom>
          <a:solidFill>
            <a:srgbClr val="FFFFFF"/>
          </a:solidFill>
          <a:ln w="12700">
            <a:solidFill>
              <a:srgbClr val="E2E8F0"/>
            </a:solidFill>
            <a:prstDash val="solid"/>
          </a:ln>
        </p:spPr>
      </p:sp>
      <p:sp>
        <p:nvSpPr>
          <p:cNvPr id="29" name="Shape 26"/>
          <p:cNvSpPr/>
          <p:nvPr/>
        </p:nvSpPr>
        <p:spPr>
          <a:xfrm>
            <a:off x="6065520" y="2377440"/>
            <a:ext cx="64008" cy="914400"/>
          </a:xfrm>
          <a:prstGeom prst="rect">
            <a:avLst/>
          </a:prstGeom>
          <a:solidFill>
            <a:srgbClr val="14B8A6"/>
          </a:solidFill>
          <a:ln w="12700">
            <a:solidFill>
              <a:srgbClr val="14B8A6"/>
            </a:solidFill>
            <a:prstDash val="solid"/>
          </a:ln>
        </p:spPr>
      </p:sp>
      <p:sp>
        <p:nvSpPr>
          <p:cNvPr id="30" name="Text 27"/>
          <p:cNvSpPr txBox="1"/>
          <p:nvPr/>
        </p:nvSpPr>
        <p:spPr>
          <a:xfrm>
            <a:off x="6248400" y="246888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Return to Play</a:t>
            </a:r>
            <a:endParaRPr lang="en-US" sz="1500" dirty="0"/>
          </a:p>
        </p:txBody>
      </p:sp>
      <p:sp>
        <p:nvSpPr>
          <p:cNvPr id="31" name="Text 28"/>
          <p:cNvSpPr txBox="1"/>
          <p:nvPr/>
        </p:nvSpPr>
        <p:spPr>
          <a:xfrm>
            <a:off x="6248400" y="279806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Readiness assessment</a:t>
            </a:r>
            <a:endParaRPr lang="en-US" sz="1250" dirty="0"/>
          </a:p>
        </p:txBody>
      </p:sp>
      <p:sp>
        <p:nvSpPr>
          <p:cNvPr id="32" name="Shape 29"/>
          <p:cNvSpPr/>
          <p:nvPr/>
        </p:nvSpPr>
        <p:spPr>
          <a:xfrm>
            <a:off x="548640" y="3474720"/>
            <a:ext cx="2529840" cy="914400"/>
          </a:xfrm>
          <a:prstGeom prst="rect">
            <a:avLst/>
          </a:prstGeom>
          <a:solidFill>
            <a:srgbClr val="FFFFFF"/>
          </a:solidFill>
          <a:ln w="12700">
            <a:solidFill>
              <a:srgbClr val="E2E8F0"/>
            </a:solidFill>
            <a:prstDash val="solid"/>
          </a:ln>
        </p:spPr>
      </p:sp>
      <p:sp>
        <p:nvSpPr>
          <p:cNvPr id="33" name="Shape 30"/>
          <p:cNvSpPr/>
          <p:nvPr/>
        </p:nvSpPr>
        <p:spPr>
          <a:xfrm>
            <a:off x="548640" y="3474720"/>
            <a:ext cx="64008" cy="914400"/>
          </a:xfrm>
          <a:prstGeom prst="rect">
            <a:avLst/>
          </a:prstGeom>
          <a:solidFill>
            <a:srgbClr val="14B8A6"/>
          </a:solidFill>
          <a:ln w="12700">
            <a:solidFill>
              <a:srgbClr val="14B8A6"/>
            </a:solidFill>
            <a:prstDash val="solid"/>
          </a:ln>
        </p:spPr>
      </p:sp>
      <p:sp>
        <p:nvSpPr>
          <p:cNvPr id="34" name="Text 31"/>
          <p:cNvSpPr txBox="1"/>
          <p:nvPr/>
        </p:nvSpPr>
        <p:spPr>
          <a:xfrm>
            <a:off x="731520" y="356616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Appointments</a:t>
            </a:r>
            <a:endParaRPr lang="en-US" sz="1500" dirty="0"/>
          </a:p>
        </p:txBody>
      </p:sp>
      <p:sp>
        <p:nvSpPr>
          <p:cNvPr id="35" name="Text 32"/>
          <p:cNvSpPr txBox="1"/>
          <p:nvPr/>
        </p:nvSpPr>
        <p:spPr>
          <a:xfrm>
            <a:off x="731520" y="389534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Book, edit and cancel</a:t>
            </a:r>
            <a:endParaRPr lang="en-US" sz="1250" dirty="0"/>
          </a:p>
        </p:txBody>
      </p:sp>
      <p:sp>
        <p:nvSpPr>
          <p:cNvPr id="36" name="Shape 33"/>
          <p:cNvSpPr/>
          <p:nvPr/>
        </p:nvSpPr>
        <p:spPr>
          <a:xfrm>
            <a:off x="3307080" y="3474720"/>
            <a:ext cx="2529840" cy="914400"/>
          </a:xfrm>
          <a:prstGeom prst="rect">
            <a:avLst/>
          </a:prstGeom>
          <a:solidFill>
            <a:srgbClr val="FFFFFF"/>
          </a:solidFill>
          <a:ln w="12700">
            <a:solidFill>
              <a:srgbClr val="E2E8F0"/>
            </a:solidFill>
            <a:prstDash val="solid"/>
          </a:ln>
        </p:spPr>
      </p:sp>
      <p:sp>
        <p:nvSpPr>
          <p:cNvPr id="37" name="Shape 34"/>
          <p:cNvSpPr/>
          <p:nvPr/>
        </p:nvSpPr>
        <p:spPr>
          <a:xfrm>
            <a:off x="3307080" y="3474720"/>
            <a:ext cx="64008" cy="914400"/>
          </a:xfrm>
          <a:prstGeom prst="rect">
            <a:avLst/>
          </a:prstGeom>
          <a:solidFill>
            <a:srgbClr val="14B8A6"/>
          </a:solidFill>
          <a:ln w="12700">
            <a:solidFill>
              <a:srgbClr val="14B8A6"/>
            </a:solidFill>
            <a:prstDash val="solid"/>
          </a:ln>
        </p:spPr>
      </p:sp>
      <p:sp>
        <p:nvSpPr>
          <p:cNvPr id="38" name="Text 35"/>
          <p:cNvSpPr txBox="1"/>
          <p:nvPr/>
        </p:nvSpPr>
        <p:spPr>
          <a:xfrm>
            <a:off x="3489960" y="356616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Reports</a:t>
            </a:r>
            <a:endParaRPr lang="en-US" sz="1500" dirty="0"/>
          </a:p>
        </p:txBody>
      </p:sp>
      <p:sp>
        <p:nvSpPr>
          <p:cNvPr id="39" name="Text 36"/>
          <p:cNvSpPr txBox="1"/>
          <p:nvPr/>
        </p:nvSpPr>
        <p:spPr>
          <a:xfrm>
            <a:off x="3489960" y="389534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Print and CSV export</a:t>
            </a:r>
            <a:endParaRPr lang="en-US" sz="1250" dirty="0"/>
          </a:p>
        </p:txBody>
      </p:sp>
      <p:sp>
        <p:nvSpPr>
          <p:cNvPr id="40" name="Shape 37"/>
          <p:cNvSpPr/>
          <p:nvPr/>
        </p:nvSpPr>
        <p:spPr>
          <a:xfrm>
            <a:off x="6065520" y="3474720"/>
            <a:ext cx="2529840" cy="914400"/>
          </a:xfrm>
          <a:prstGeom prst="rect">
            <a:avLst/>
          </a:prstGeom>
          <a:solidFill>
            <a:srgbClr val="FFFFFF"/>
          </a:solidFill>
          <a:ln w="12700">
            <a:solidFill>
              <a:srgbClr val="E2E8F0"/>
            </a:solidFill>
            <a:prstDash val="solid"/>
          </a:ln>
        </p:spPr>
      </p:sp>
      <p:sp>
        <p:nvSpPr>
          <p:cNvPr id="41" name="Shape 38"/>
          <p:cNvSpPr/>
          <p:nvPr/>
        </p:nvSpPr>
        <p:spPr>
          <a:xfrm>
            <a:off x="6065520" y="3474720"/>
            <a:ext cx="64008" cy="914400"/>
          </a:xfrm>
          <a:prstGeom prst="rect">
            <a:avLst/>
          </a:prstGeom>
          <a:solidFill>
            <a:srgbClr val="14B8A6"/>
          </a:solidFill>
          <a:ln w="12700">
            <a:solidFill>
              <a:srgbClr val="14B8A6"/>
            </a:solidFill>
            <a:prstDash val="solid"/>
          </a:ln>
        </p:spPr>
      </p:sp>
      <p:sp>
        <p:nvSpPr>
          <p:cNvPr id="42" name="Text 39"/>
          <p:cNvSpPr txBox="1"/>
          <p:nvPr/>
        </p:nvSpPr>
        <p:spPr>
          <a:xfrm>
            <a:off x="6248400" y="356616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Settings</a:t>
            </a:r>
            <a:endParaRPr lang="en-US" sz="1500" dirty="0"/>
          </a:p>
        </p:txBody>
      </p:sp>
      <p:sp>
        <p:nvSpPr>
          <p:cNvPr id="43" name="Text 40"/>
          <p:cNvSpPr txBox="1"/>
          <p:nvPr/>
        </p:nvSpPr>
        <p:spPr>
          <a:xfrm>
            <a:off x="6248400" y="3895344"/>
            <a:ext cx="2255520" cy="43891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Profile and dark mode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Login and Role-Based Access</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9</a:t>
            </a:r>
            <a:endParaRPr lang="en-US" sz="1100" dirty="0"/>
          </a:p>
        </p:txBody>
      </p:sp>
      <p:sp>
        <p:nvSpPr>
          <p:cNvPr id="8" name="Shape 5"/>
          <p:cNvSpPr/>
          <p:nvPr/>
        </p:nvSpPr>
        <p:spPr>
          <a:xfrm>
            <a:off x="512064" y="1335024"/>
            <a:ext cx="3639312" cy="2079117"/>
          </a:xfrm>
          <a:prstGeom prst="rect">
            <a:avLst/>
          </a:prstGeom>
          <a:solidFill>
            <a:srgbClr val="CBD5E1"/>
          </a:solidFill>
          <a:ln w="12700">
            <a:solidFill>
              <a:srgbClr val="CBD5E1"/>
            </a:solidFill>
            <a:prstDash val="solid"/>
          </a:ln>
        </p:spPr>
      </p:sp>
      <p:pic>
        <p:nvPicPr>
          <p:cNvPr id="9" name="Image 0" descr="sh_login.png"/>
          <p:cNvPicPr>
            <a:picLocks noChangeAspect="1"/>
          </p:cNvPicPr>
          <p:nvPr/>
        </p:nvPicPr>
        <p:blipFill>
          <a:blip r:embed="rId3"/>
          <a:stretch>
            <a:fillRect/>
          </a:stretch>
        </p:blipFill>
        <p:spPr>
          <a:xfrm>
            <a:off x="548640" y="1371600"/>
            <a:ext cx="3566160" cy="2005965"/>
          </a:xfrm>
          <a:prstGeom prst="rect">
            <a:avLst/>
          </a:prstGeom>
        </p:spPr>
      </p:pic>
      <p:sp>
        <p:nvSpPr>
          <p:cNvPr id="10" name="Text 6"/>
          <p:cNvSpPr txBox="1"/>
          <p:nvPr/>
        </p:nvSpPr>
        <p:spPr>
          <a:xfrm>
            <a:off x="548640" y="3520440"/>
            <a:ext cx="3566160" cy="64008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Admin, Coach and Physiotherapist each see different data and actions.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389120" y="1371600"/>
          <a:ext cx="4206240" cy="2688336"/>
        </p:xfrm>
        <a:graphic>
          <a:graphicData uri="http://schemas.openxmlformats.org/drawingml/2006/table">
            <a:tbl>
              <a:tblPr/>
              <a:tblGrid>
                <a:gridCol w="15544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7C8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Admin</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7C8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Coach</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7C8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Physio</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384048">
                <a:tc>
                  <a:txBody>
                    <a:bodyPr/>
                    <a:lstStyle/>
                    <a:p>
                      <a:pPr marL="0" indent="0" algn="l">
                        <a:buNone/>
                      </a:pPr>
                      <a:r>
                        <a:rPr lang="en-US" sz="1200" b="1" dirty="0">
                          <a:solidFill>
                            <a:srgbClr val="1B2A41"/>
                          </a:solidFill>
                          <a:latin typeface="Calibri" pitchFamily="34" charset="0"/>
                          <a:ea typeface="Calibri" pitchFamily="34" charset="-122"/>
                          <a:cs typeface="Calibri" pitchFamily="34" charset="-120"/>
                        </a:rPr>
                        <a:t>Manage athletes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View</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b="1" dirty="0">
                          <a:solidFill>
                            <a:srgbClr val="1B2A41"/>
                          </a:solidFill>
                          <a:latin typeface="Calibri" pitchFamily="34" charset="0"/>
                          <a:ea typeface="Calibri" pitchFamily="34" charset="-122"/>
                          <a:cs typeface="Calibri" pitchFamily="34" charset="-120"/>
                        </a:rPr>
                        <a:t>Manage injuries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200" b="1" dirty="0">
                          <a:solidFill>
                            <a:srgbClr val="1B2A41"/>
                          </a:solidFill>
                          <a:latin typeface="Calibri" pitchFamily="34" charset="0"/>
                          <a:ea typeface="Calibri" pitchFamily="34" charset="-122"/>
                          <a:cs typeface="Calibri" pitchFamily="34" charset="-120"/>
                        </a:rPr>
                        <a:t>Rehab and treatment</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View</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View</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b="1" dirty="0">
                          <a:solidFill>
                            <a:srgbClr val="1B2A41"/>
                          </a:solidFill>
                          <a:latin typeface="Calibri" pitchFamily="34" charset="0"/>
                          <a:ea typeface="Calibri" pitchFamily="34" charset="-122"/>
                          <a:cs typeface="Calibri" pitchFamily="34" charset="-120"/>
                        </a:rPr>
                        <a:t>Clear for play</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200" b="1" dirty="0">
                          <a:solidFill>
                            <a:srgbClr val="1B2A41"/>
                          </a:solidFill>
                          <a:latin typeface="Calibri" pitchFamily="34" charset="0"/>
                          <a:ea typeface="Calibri" pitchFamily="34" charset="-122"/>
                          <a:cs typeface="Calibri" pitchFamily="34" charset="-120"/>
                        </a:rPr>
                        <a:t>Appointments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b="1" dirty="0">
                          <a:solidFill>
                            <a:srgbClr val="1B2A41"/>
                          </a:solidFill>
                          <a:latin typeface="Calibri" pitchFamily="34" charset="0"/>
                          <a:ea typeface="Calibri" pitchFamily="34" charset="-122"/>
                          <a:cs typeface="Calibri" pitchFamily="34" charset="-120"/>
                        </a:rPr>
                        <a:t>Delete records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A41"/>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Dashboard</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10</a:t>
            </a:r>
            <a:endParaRPr lang="en-US" sz="1100" dirty="0"/>
          </a:p>
        </p:txBody>
      </p:sp>
      <p:sp>
        <p:nvSpPr>
          <p:cNvPr id="8" name="Shape 5"/>
          <p:cNvSpPr/>
          <p:nvPr/>
        </p:nvSpPr>
        <p:spPr>
          <a:xfrm>
            <a:off x="512064" y="1243584"/>
            <a:ext cx="5559552" cy="3159252"/>
          </a:xfrm>
          <a:prstGeom prst="rect">
            <a:avLst/>
          </a:prstGeom>
          <a:solidFill>
            <a:srgbClr val="CBD5E1"/>
          </a:solidFill>
          <a:ln w="12700">
            <a:solidFill>
              <a:srgbClr val="CBD5E1"/>
            </a:solidFill>
            <a:prstDash val="solid"/>
          </a:ln>
        </p:spPr>
      </p:sp>
      <p:pic>
        <p:nvPicPr>
          <p:cNvPr id="9" name="Image 0" descr="sh_dash.png"/>
          <p:cNvPicPr>
            <a:picLocks noChangeAspect="1"/>
          </p:cNvPicPr>
          <p:nvPr/>
        </p:nvPicPr>
        <p:blipFill>
          <a:blip r:embed="rId3"/>
          <a:stretch>
            <a:fillRect/>
          </a:stretch>
        </p:blipFill>
        <p:spPr>
          <a:xfrm>
            <a:off x="548640" y="1280160"/>
            <a:ext cx="5486400" cy="3086100"/>
          </a:xfrm>
          <a:prstGeom prst="rect">
            <a:avLst/>
          </a:prstGeom>
        </p:spPr>
      </p:pic>
      <p:sp>
        <p:nvSpPr>
          <p:cNvPr id="10" name="Text 6"/>
          <p:cNvSpPr txBox="1"/>
          <p:nvPr/>
        </p:nvSpPr>
        <p:spPr>
          <a:xfrm>
            <a:off x="6309360" y="1371600"/>
            <a:ext cx="237744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Six statistic cards</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Bar chart by body part</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Status and severity charts</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Reminders and recent activity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Athletes and Injuries</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11</a:t>
            </a:r>
            <a:endParaRPr lang="en-US" sz="1100" dirty="0"/>
          </a:p>
        </p:txBody>
      </p:sp>
      <p:sp>
        <p:nvSpPr>
          <p:cNvPr id="8" name="Shape 5"/>
          <p:cNvSpPr/>
          <p:nvPr/>
        </p:nvSpPr>
        <p:spPr>
          <a:xfrm>
            <a:off x="512064" y="1243584"/>
            <a:ext cx="4005072" cy="2284857"/>
          </a:xfrm>
          <a:prstGeom prst="rect">
            <a:avLst/>
          </a:prstGeom>
          <a:solidFill>
            <a:srgbClr val="CBD5E1"/>
          </a:solidFill>
          <a:ln w="12700">
            <a:solidFill>
              <a:srgbClr val="CBD5E1"/>
            </a:solidFill>
            <a:prstDash val="solid"/>
          </a:ln>
        </p:spPr>
      </p:sp>
      <p:pic>
        <p:nvPicPr>
          <p:cNvPr id="9" name="Image 0" descr="sh_athletes.png"/>
          <p:cNvPicPr>
            <a:picLocks noChangeAspect="1"/>
          </p:cNvPicPr>
          <p:nvPr/>
        </p:nvPicPr>
        <p:blipFill>
          <a:blip r:embed="rId3"/>
          <a:stretch>
            <a:fillRect/>
          </a:stretch>
        </p:blipFill>
        <p:spPr>
          <a:xfrm>
            <a:off x="548640" y="1280160"/>
            <a:ext cx="3931920" cy="2211705"/>
          </a:xfrm>
          <a:prstGeom prst="rect">
            <a:avLst/>
          </a:prstGeom>
        </p:spPr>
      </p:pic>
      <p:sp>
        <p:nvSpPr>
          <p:cNvPr id="10" name="Shape 6"/>
          <p:cNvSpPr/>
          <p:nvPr/>
        </p:nvSpPr>
        <p:spPr>
          <a:xfrm>
            <a:off x="4626864" y="1243584"/>
            <a:ext cx="4005072" cy="2284857"/>
          </a:xfrm>
          <a:prstGeom prst="rect">
            <a:avLst/>
          </a:prstGeom>
          <a:solidFill>
            <a:srgbClr val="CBD5E1"/>
          </a:solidFill>
          <a:ln w="12700">
            <a:solidFill>
              <a:srgbClr val="CBD5E1"/>
            </a:solidFill>
            <a:prstDash val="solid"/>
          </a:ln>
        </p:spPr>
      </p:sp>
      <p:pic>
        <p:nvPicPr>
          <p:cNvPr id="11" name="Image 1" descr="sh_injuries.png"/>
          <p:cNvPicPr>
            <a:picLocks noChangeAspect="1"/>
          </p:cNvPicPr>
          <p:nvPr/>
        </p:nvPicPr>
        <p:blipFill>
          <a:blip r:embed="rId4"/>
          <a:stretch>
            <a:fillRect/>
          </a:stretch>
        </p:blipFill>
        <p:spPr>
          <a:xfrm>
            <a:off x="4663440" y="1280160"/>
            <a:ext cx="3931920" cy="2211705"/>
          </a:xfrm>
          <a:prstGeom prst="rect">
            <a:avLst/>
          </a:prstGeom>
        </p:spPr>
      </p:pic>
      <p:sp>
        <p:nvSpPr>
          <p:cNvPr id="12" name="Text 7"/>
          <p:cNvSpPr txBox="1"/>
          <p:nvPr/>
        </p:nvSpPr>
        <p:spPr>
          <a:xfrm>
            <a:off x="548640" y="3749040"/>
            <a:ext cx="3931920" cy="64008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Athletes: add, edit, delete, search, filter and open profiles</a:t>
            </a:r>
            <a:endParaRPr lang="en-US" sz="1250" dirty="0"/>
          </a:p>
        </p:txBody>
      </p:sp>
      <p:sp>
        <p:nvSpPr>
          <p:cNvPr id="13" name="Text 8"/>
          <p:cNvSpPr txBox="1"/>
          <p:nvPr/>
        </p:nvSpPr>
        <p:spPr>
          <a:xfrm>
            <a:off x="4663440" y="3749040"/>
            <a:ext cx="3931920" cy="64008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Injuries: body part, severity, symptoms, treatment and status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Rehabilitation and Treatment</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12</a:t>
            </a:r>
            <a:endParaRPr lang="en-US" sz="1100" dirty="0"/>
          </a:p>
        </p:txBody>
      </p:sp>
      <p:sp>
        <p:nvSpPr>
          <p:cNvPr id="8" name="Shape 5"/>
          <p:cNvSpPr/>
          <p:nvPr/>
        </p:nvSpPr>
        <p:spPr>
          <a:xfrm>
            <a:off x="512064" y="1243584"/>
            <a:ext cx="5285232" cy="3004947"/>
          </a:xfrm>
          <a:prstGeom prst="rect">
            <a:avLst/>
          </a:prstGeom>
          <a:solidFill>
            <a:srgbClr val="CBD5E1"/>
          </a:solidFill>
          <a:ln w="12700">
            <a:solidFill>
              <a:srgbClr val="CBD5E1"/>
            </a:solidFill>
            <a:prstDash val="solid"/>
          </a:ln>
        </p:spPr>
      </p:sp>
      <p:pic>
        <p:nvPicPr>
          <p:cNvPr id="9" name="Image 0" descr="sh_rehab.png"/>
          <p:cNvPicPr>
            <a:picLocks noChangeAspect="1"/>
          </p:cNvPicPr>
          <p:nvPr/>
        </p:nvPicPr>
        <p:blipFill>
          <a:blip r:embed="rId3"/>
          <a:stretch>
            <a:fillRect/>
          </a:stretch>
        </p:blipFill>
        <p:spPr>
          <a:xfrm>
            <a:off x="548640" y="1280160"/>
            <a:ext cx="5212080" cy="2931795"/>
          </a:xfrm>
          <a:prstGeom prst="rect">
            <a:avLst/>
          </a:prstGeom>
        </p:spPr>
      </p:pic>
      <p:sp>
        <p:nvSpPr>
          <p:cNvPr id="10" name="Text 6"/>
          <p:cNvSpPr txBox="1"/>
          <p:nvPr/>
        </p:nvSpPr>
        <p:spPr>
          <a:xfrm>
            <a:off x="6035040" y="1371600"/>
            <a:ext cx="26517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Exercise plan for each athlete</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Daily checklist and progress bar</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Recovery timeline</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Physiotherapist notes</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Follow-up dates with alerts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Return-to-Play Assessment</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13</a:t>
            </a:r>
            <a:endParaRPr lang="en-US" sz="1100" dirty="0"/>
          </a:p>
        </p:txBody>
      </p:sp>
      <p:sp>
        <p:nvSpPr>
          <p:cNvPr id="8" name="Shape 5"/>
          <p:cNvSpPr/>
          <p:nvPr/>
        </p:nvSpPr>
        <p:spPr>
          <a:xfrm>
            <a:off x="512064" y="1243584"/>
            <a:ext cx="4279392" cy="2439162"/>
          </a:xfrm>
          <a:prstGeom prst="rect">
            <a:avLst/>
          </a:prstGeom>
          <a:solidFill>
            <a:srgbClr val="CBD5E1"/>
          </a:solidFill>
          <a:ln w="12700">
            <a:solidFill>
              <a:srgbClr val="CBD5E1"/>
            </a:solidFill>
            <a:prstDash val="solid"/>
          </a:ln>
        </p:spPr>
      </p:sp>
      <p:pic>
        <p:nvPicPr>
          <p:cNvPr id="9" name="Image 0" descr="sh_rtp.png"/>
          <p:cNvPicPr>
            <a:picLocks noChangeAspect="1"/>
          </p:cNvPicPr>
          <p:nvPr/>
        </p:nvPicPr>
        <p:blipFill>
          <a:blip r:embed="rId3"/>
          <a:stretch>
            <a:fillRect/>
          </a:stretch>
        </p:blipFill>
        <p:spPr>
          <a:xfrm>
            <a:off x="548640" y="1280160"/>
            <a:ext cx="4206240" cy="2366010"/>
          </a:xfrm>
          <a:prstGeom prst="rect">
            <a:avLst/>
          </a:prstGeom>
        </p:spPr>
      </p:pic>
      <p:sp>
        <p:nvSpPr>
          <p:cNvPr id="10" name="Shape 6"/>
          <p:cNvSpPr/>
          <p:nvPr/>
        </p:nvSpPr>
        <p:spPr>
          <a:xfrm>
            <a:off x="5120640" y="1325880"/>
            <a:ext cx="411480" cy="411480"/>
          </a:xfrm>
          <a:prstGeom prst="ellipse">
            <a:avLst/>
          </a:prstGeom>
          <a:solidFill>
            <a:srgbClr val="0E7C86"/>
          </a:solidFill>
          <a:ln w="12700">
            <a:solidFill>
              <a:srgbClr val="0E7C86"/>
            </a:solidFill>
            <a:prstDash val="solid"/>
          </a:ln>
        </p:spPr>
      </p:sp>
      <p:sp>
        <p:nvSpPr>
          <p:cNvPr id="11" name="Text 7"/>
          <p:cNvSpPr txBox="1"/>
          <p:nvPr/>
        </p:nvSpPr>
        <p:spPr>
          <a:xfrm>
            <a:off x="5120640" y="1325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8"/>
          <p:cNvSpPr txBox="1"/>
          <p:nvPr/>
        </p:nvSpPr>
        <p:spPr>
          <a:xfrm>
            <a:off x="5669280" y="1325880"/>
            <a:ext cx="2926080" cy="411480"/>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Rehab plan reaches 100%</a:t>
            </a:r>
            <a:endParaRPr lang="en-US" sz="1400" dirty="0"/>
          </a:p>
        </p:txBody>
      </p:sp>
      <p:sp>
        <p:nvSpPr>
          <p:cNvPr id="13" name="Shape 9"/>
          <p:cNvSpPr/>
          <p:nvPr/>
        </p:nvSpPr>
        <p:spPr>
          <a:xfrm>
            <a:off x="5120640" y="1929384"/>
            <a:ext cx="411480" cy="411480"/>
          </a:xfrm>
          <a:prstGeom prst="ellipse">
            <a:avLst/>
          </a:prstGeom>
          <a:solidFill>
            <a:srgbClr val="0E7C86"/>
          </a:solidFill>
          <a:ln w="12700">
            <a:solidFill>
              <a:srgbClr val="0E7C86"/>
            </a:solidFill>
            <a:prstDash val="solid"/>
          </a:ln>
        </p:spPr>
      </p:sp>
      <p:sp>
        <p:nvSpPr>
          <p:cNvPr id="14" name="Text 10"/>
          <p:cNvSpPr txBox="1"/>
          <p:nvPr/>
        </p:nvSpPr>
        <p:spPr>
          <a:xfrm>
            <a:off x="5120640" y="1929384"/>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5669280" y="1929384"/>
            <a:ext cx="2926080" cy="411480"/>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Six-point readiness checklist</a:t>
            </a:r>
            <a:endParaRPr lang="en-US" sz="1400" dirty="0"/>
          </a:p>
        </p:txBody>
      </p:sp>
      <p:sp>
        <p:nvSpPr>
          <p:cNvPr id="16" name="Shape 12"/>
          <p:cNvSpPr/>
          <p:nvPr/>
        </p:nvSpPr>
        <p:spPr>
          <a:xfrm>
            <a:off x="5120640" y="2532888"/>
            <a:ext cx="411480" cy="411480"/>
          </a:xfrm>
          <a:prstGeom prst="ellipse">
            <a:avLst/>
          </a:prstGeom>
          <a:solidFill>
            <a:srgbClr val="0E7C86"/>
          </a:solidFill>
          <a:ln w="12700">
            <a:solidFill>
              <a:srgbClr val="0E7C86"/>
            </a:solidFill>
            <a:prstDash val="solid"/>
          </a:ln>
        </p:spPr>
      </p:sp>
      <p:sp>
        <p:nvSpPr>
          <p:cNvPr id="17" name="Text 13"/>
          <p:cNvSpPr txBox="1"/>
          <p:nvPr/>
        </p:nvSpPr>
        <p:spPr>
          <a:xfrm>
            <a:off x="5120640" y="253288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4"/>
          <p:cNvSpPr txBox="1"/>
          <p:nvPr/>
        </p:nvSpPr>
        <p:spPr>
          <a:xfrm>
            <a:off x="5669280" y="2532888"/>
            <a:ext cx="2926080" cy="411480"/>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Physiotherapist confirms</a:t>
            </a:r>
            <a:endParaRPr lang="en-US" sz="1400" dirty="0"/>
          </a:p>
        </p:txBody>
      </p:sp>
      <p:sp>
        <p:nvSpPr>
          <p:cNvPr id="19" name="Shape 15"/>
          <p:cNvSpPr/>
          <p:nvPr/>
        </p:nvSpPr>
        <p:spPr>
          <a:xfrm>
            <a:off x="5120640" y="3136392"/>
            <a:ext cx="411480" cy="411480"/>
          </a:xfrm>
          <a:prstGeom prst="ellipse">
            <a:avLst/>
          </a:prstGeom>
          <a:solidFill>
            <a:srgbClr val="0E7C86"/>
          </a:solidFill>
          <a:ln w="12700">
            <a:solidFill>
              <a:srgbClr val="0E7C86"/>
            </a:solidFill>
            <a:prstDash val="solid"/>
          </a:ln>
        </p:spPr>
      </p:sp>
      <p:sp>
        <p:nvSpPr>
          <p:cNvPr id="20" name="Text 16"/>
          <p:cNvSpPr txBox="1"/>
          <p:nvPr/>
        </p:nvSpPr>
        <p:spPr>
          <a:xfrm>
            <a:off x="5120640" y="313639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txBox="1"/>
          <p:nvPr/>
        </p:nvSpPr>
        <p:spPr>
          <a:xfrm>
            <a:off x="5669280" y="3136392"/>
            <a:ext cx="2926080" cy="411480"/>
          </a:xfrm>
          <a:prstGeom prst="rect">
            <a:avLst/>
          </a:prstGeom>
          <a:noFill/>
          <a:ln/>
        </p:spPr>
        <p:txBody>
          <a:bodyPr wrap="square" lIns="0" tIns="0" rIns="0" bIns="0" rtlCol="0" anchor="ctr"/>
          <a:lstStyle/>
          <a:p>
            <a:pPr marL="0" indent="0">
              <a:buNone/>
            </a:pPr>
            <a:r>
              <a:rPr lang="en-US" sz="1400" dirty="0">
                <a:solidFill>
                  <a:srgbClr val="1B2A41"/>
                </a:solidFill>
                <a:latin typeface="Calibri" pitchFamily="34" charset="0"/>
                <a:ea typeface="Calibri" pitchFamily="34" charset="-122"/>
                <a:cs typeface="Calibri" pitchFamily="34" charset="-120"/>
              </a:rPr>
              <a:t>Athlete is marked as cleared</a:t>
            </a:r>
            <a:endParaRPr lang="en-US" sz="1400" dirty="0"/>
          </a:p>
        </p:txBody>
      </p:sp>
      <p:sp>
        <p:nvSpPr>
          <p:cNvPr id="22" name="Shape 18"/>
          <p:cNvSpPr/>
          <p:nvPr/>
        </p:nvSpPr>
        <p:spPr>
          <a:xfrm>
            <a:off x="548640" y="3886200"/>
            <a:ext cx="8046720" cy="685800"/>
          </a:xfrm>
          <a:prstGeom prst="rect">
            <a:avLst/>
          </a:prstGeom>
          <a:solidFill>
            <a:srgbClr val="FEF3C7"/>
          </a:solidFill>
          <a:ln w="12700">
            <a:solidFill>
              <a:srgbClr val="FCD34D"/>
            </a:solidFill>
            <a:prstDash val="solid"/>
          </a:ln>
        </p:spPr>
      </p:sp>
      <p:sp>
        <p:nvSpPr>
          <p:cNvPr id="23" name="Text 19"/>
          <p:cNvSpPr txBox="1"/>
          <p:nvPr/>
        </p:nvSpPr>
        <p:spPr>
          <a:xfrm>
            <a:off x="731520" y="3886200"/>
            <a:ext cx="7680960" cy="685800"/>
          </a:xfrm>
          <a:prstGeom prst="rect">
            <a:avLst/>
          </a:prstGeom>
          <a:noFill/>
          <a:ln/>
        </p:spPr>
        <p:txBody>
          <a:bodyPr wrap="square" lIns="0" tIns="0" rIns="0" bIns="0" rtlCol="0" anchor="ctr"/>
          <a:lstStyle/>
          <a:p>
            <a:pPr marL="0" indent="0">
              <a:buNone/>
            </a:pPr>
            <a:r>
              <a:rPr lang="en-US" sz="1300" b="1" dirty="0">
                <a:solidFill>
                  <a:srgbClr val="78350F"/>
                </a:solidFill>
                <a:latin typeface="Calibri" pitchFamily="34" charset="0"/>
                <a:ea typeface="Calibri" pitchFamily="34" charset="-122"/>
                <a:cs typeface="Calibri" pitchFamily="34" charset="-120"/>
              </a:rPr>
              <a:t>Safety rule: medical clearance is always a decision for qualified healthcare professionals. Only the Physiotherapist role can record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Appointments and Reports</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14</a:t>
            </a:r>
            <a:endParaRPr lang="en-US" sz="1100" dirty="0"/>
          </a:p>
        </p:txBody>
      </p:sp>
      <p:sp>
        <p:nvSpPr>
          <p:cNvPr id="8" name="Shape 5"/>
          <p:cNvSpPr/>
          <p:nvPr/>
        </p:nvSpPr>
        <p:spPr>
          <a:xfrm>
            <a:off x="512064" y="1243584"/>
            <a:ext cx="4005072" cy="2284857"/>
          </a:xfrm>
          <a:prstGeom prst="rect">
            <a:avLst/>
          </a:prstGeom>
          <a:solidFill>
            <a:srgbClr val="CBD5E1"/>
          </a:solidFill>
          <a:ln w="12700">
            <a:solidFill>
              <a:srgbClr val="CBD5E1"/>
            </a:solidFill>
            <a:prstDash val="solid"/>
          </a:ln>
        </p:spPr>
      </p:sp>
      <p:pic>
        <p:nvPicPr>
          <p:cNvPr id="9" name="Image 0" descr="sh_appts.png"/>
          <p:cNvPicPr>
            <a:picLocks noChangeAspect="1"/>
          </p:cNvPicPr>
          <p:nvPr/>
        </p:nvPicPr>
        <p:blipFill>
          <a:blip r:embed="rId3"/>
          <a:stretch>
            <a:fillRect/>
          </a:stretch>
        </p:blipFill>
        <p:spPr>
          <a:xfrm>
            <a:off x="548640" y="1280160"/>
            <a:ext cx="3931920" cy="2211705"/>
          </a:xfrm>
          <a:prstGeom prst="rect">
            <a:avLst/>
          </a:prstGeom>
        </p:spPr>
      </p:pic>
      <p:sp>
        <p:nvSpPr>
          <p:cNvPr id="10" name="Shape 6"/>
          <p:cNvSpPr/>
          <p:nvPr/>
        </p:nvSpPr>
        <p:spPr>
          <a:xfrm>
            <a:off x="4626864" y="1243584"/>
            <a:ext cx="4005072" cy="2284857"/>
          </a:xfrm>
          <a:prstGeom prst="rect">
            <a:avLst/>
          </a:prstGeom>
          <a:solidFill>
            <a:srgbClr val="CBD5E1"/>
          </a:solidFill>
          <a:ln w="12700">
            <a:solidFill>
              <a:srgbClr val="CBD5E1"/>
            </a:solidFill>
            <a:prstDash val="solid"/>
          </a:ln>
        </p:spPr>
      </p:sp>
      <p:pic>
        <p:nvPicPr>
          <p:cNvPr id="11" name="Image 1" descr="sh_reports.png"/>
          <p:cNvPicPr>
            <a:picLocks noChangeAspect="1"/>
          </p:cNvPicPr>
          <p:nvPr/>
        </p:nvPicPr>
        <p:blipFill>
          <a:blip r:embed="rId4"/>
          <a:stretch>
            <a:fillRect/>
          </a:stretch>
        </p:blipFill>
        <p:spPr>
          <a:xfrm>
            <a:off x="4663440" y="1280160"/>
            <a:ext cx="3931920" cy="2211705"/>
          </a:xfrm>
          <a:prstGeom prst="rect">
            <a:avLst/>
          </a:prstGeom>
        </p:spPr>
      </p:pic>
      <p:sp>
        <p:nvSpPr>
          <p:cNvPr id="12" name="Text 7"/>
          <p:cNvSpPr txBox="1"/>
          <p:nvPr/>
        </p:nvSpPr>
        <p:spPr>
          <a:xfrm>
            <a:off x="548640" y="3749040"/>
            <a:ext cx="3931920" cy="64008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Appointments: schedule, edit, complete and cancel</a:t>
            </a:r>
            <a:endParaRPr lang="en-US" sz="1250" dirty="0"/>
          </a:p>
        </p:txBody>
      </p:sp>
      <p:sp>
        <p:nvSpPr>
          <p:cNvPr id="13" name="Text 8"/>
          <p:cNvSpPr txBox="1"/>
          <p:nvPr/>
        </p:nvSpPr>
        <p:spPr>
          <a:xfrm>
            <a:off x="4663440" y="3749040"/>
            <a:ext cx="3931920" cy="640080"/>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Reports: search, date filters, print and CSV export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Notifications and Extra Features</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15</a:t>
            </a:r>
            <a:endParaRPr lang="en-US" sz="1100" dirty="0"/>
          </a:p>
        </p:txBody>
      </p:sp>
      <p:sp>
        <p:nvSpPr>
          <p:cNvPr id="8" name="Shape 5"/>
          <p:cNvSpPr/>
          <p:nvPr/>
        </p:nvSpPr>
        <p:spPr>
          <a:xfrm>
            <a:off x="512064" y="1243584"/>
            <a:ext cx="4553712" cy="2593467"/>
          </a:xfrm>
          <a:prstGeom prst="rect">
            <a:avLst/>
          </a:prstGeom>
          <a:solidFill>
            <a:srgbClr val="CBD5E1"/>
          </a:solidFill>
          <a:ln w="12700">
            <a:solidFill>
              <a:srgbClr val="CBD5E1"/>
            </a:solidFill>
            <a:prstDash val="solid"/>
          </a:ln>
        </p:spPr>
      </p:sp>
      <p:pic>
        <p:nvPicPr>
          <p:cNvPr id="9" name="Image 0" descr="sh_dark.png"/>
          <p:cNvPicPr>
            <a:picLocks noChangeAspect="1"/>
          </p:cNvPicPr>
          <p:nvPr/>
        </p:nvPicPr>
        <p:blipFill>
          <a:blip r:embed="rId3"/>
          <a:stretch>
            <a:fillRect/>
          </a:stretch>
        </p:blipFill>
        <p:spPr>
          <a:xfrm>
            <a:off x="548640" y="1280160"/>
            <a:ext cx="4480560" cy="2520315"/>
          </a:xfrm>
          <a:prstGeom prst="rect">
            <a:avLst/>
          </a:prstGeom>
        </p:spPr>
      </p:pic>
      <p:sp>
        <p:nvSpPr>
          <p:cNvPr id="10" name="Text 6"/>
          <p:cNvSpPr txBox="1"/>
          <p:nvPr/>
        </p:nvSpPr>
        <p:spPr>
          <a:xfrm>
            <a:off x="5303520" y="1371600"/>
            <a:ext cx="338328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Reminders for appointments, follow-ups and rehab tasks</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Dark mode with one click</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Quick-action menu</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Profile settings</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Recent activity list</a:t>
            </a:r>
            <a:endParaRPr lang="en-US" sz="1300" dirty="0"/>
          </a:p>
          <a:p>
            <a:pPr marL="342900" indent="-342900">
              <a:spcAft>
                <a:spcPts val="800"/>
              </a:spcAft>
              <a:buSzPct val="100000"/>
              <a:buChar char="•"/>
            </a:pPr>
            <a:r>
              <a:rPr lang="en-US" sz="1300" dirty="0">
                <a:solidFill>
                  <a:srgbClr val="1B2A41"/>
                </a:solidFill>
                <a:latin typeface="Calibri" pitchFamily="34" charset="0"/>
                <a:ea typeface="Calibri" pitchFamily="34" charset="-122"/>
                <a:cs typeface="Calibri" pitchFamily="34" charset="-120"/>
              </a:rPr>
              <a:t>Works on tablets and phones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Storage and Security</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16</a:t>
            </a:r>
            <a:endParaRPr lang="en-US" sz="1100" dirty="0"/>
          </a:p>
        </p:txBody>
      </p:sp>
      <p:sp>
        <p:nvSpPr>
          <p:cNvPr id="8" name="Shape 5"/>
          <p:cNvSpPr/>
          <p:nvPr/>
        </p:nvSpPr>
        <p:spPr>
          <a:xfrm>
            <a:off x="548640" y="1371600"/>
            <a:ext cx="2529840" cy="2651760"/>
          </a:xfrm>
          <a:prstGeom prst="rect">
            <a:avLst/>
          </a:prstGeom>
          <a:solidFill>
            <a:srgbClr val="FFFFFF"/>
          </a:solidFill>
          <a:ln w="12700">
            <a:solidFill>
              <a:srgbClr val="E2E8F0"/>
            </a:solidFill>
            <a:prstDash val="solid"/>
          </a:ln>
        </p:spPr>
      </p:sp>
      <p:sp>
        <p:nvSpPr>
          <p:cNvPr id="9" name="Shape 6"/>
          <p:cNvSpPr/>
          <p:nvPr/>
        </p:nvSpPr>
        <p:spPr>
          <a:xfrm>
            <a:off x="548640" y="1371600"/>
            <a:ext cx="64008" cy="2651760"/>
          </a:xfrm>
          <a:prstGeom prst="rect">
            <a:avLst/>
          </a:prstGeom>
          <a:solidFill>
            <a:srgbClr val="F59E0B"/>
          </a:solidFill>
          <a:ln w="12700">
            <a:solidFill>
              <a:srgbClr val="F59E0B"/>
            </a:solidFill>
            <a:prstDash val="solid"/>
          </a:ln>
        </p:spPr>
      </p:sp>
      <p:sp>
        <p:nvSpPr>
          <p:cNvPr id="10" name="Text 7"/>
          <p:cNvSpPr txBox="1"/>
          <p:nvPr/>
        </p:nvSpPr>
        <p:spPr>
          <a:xfrm>
            <a:off x="731520" y="146304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How data is saved</a:t>
            </a:r>
            <a:endParaRPr lang="en-US" sz="1500" dirty="0"/>
          </a:p>
        </p:txBody>
      </p:sp>
      <p:sp>
        <p:nvSpPr>
          <p:cNvPr id="11" name="Text 8"/>
          <p:cNvSpPr txBox="1"/>
          <p:nvPr/>
        </p:nvSpPr>
        <p:spPr>
          <a:xfrm>
            <a:off x="731520" y="1792224"/>
            <a:ext cx="2255520" cy="217627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Records are stored in the browser's local storage, so they stay after the page is refreshed. Sample data is added so the dashboard is not empty.</a:t>
            </a:r>
            <a:endParaRPr lang="en-US" sz="1250" dirty="0"/>
          </a:p>
        </p:txBody>
      </p:sp>
      <p:sp>
        <p:nvSpPr>
          <p:cNvPr id="12" name="Shape 9"/>
          <p:cNvSpPr/>
          <p:nvPr/>
        </p:nvSpPr>
        <p:spPr>
          <a:xfrm>
            <a:off x="3307080" y="1371600"/>
            <a:ext cx="2529840" cy="2651760"/>
          </a:xfrm>
          <a:prstGeom prst="rect">
            <a:avLst/>
          </a:prstGeom>
          <a:solidFill>
            <a:srgbClr val="FFFFFF"/>
          </a:solidFill>
          <a:ln w="12700">
            <a:solidFill>
              <a:srgbClr val="E2E8F0"/>
            </a:solidFill>
            <a:prstDash val="solid"/>
          </a:ln>
        </p:spPr>
      </p:sp>
      <p:sp>
        <p:nvSpPr>
          <p:cNvPr id="13" name="Shape 10"/>
          <p:cNvSpPr/>
          <p:nvPr/>
        </p:nvSpPr>
        <p:spPr>
          <a:xfrm>
            <a:off x="3307080" y="1371600"/>
            <a:ext cx="64008" cy="2651760"/>
          </a:xfrm>
          <a:prstGeom prst="rect">
            <a:avLst/>
          </a:prstGeom>
          <a:solidFill>
            <a:srgbClr val="F59E0B"/>
          </a:solidFill>
          <a:ln w="12700">
            <a:solidFill>
              <a:srgbClr val="F59E0B"/>
            </a:solidFill>
            <a:prstDash val="solid"/>
          </a:ln>
        </p:spPr>
      </p:sp>
      <p:sp>
        <p:nvSpPr>
          <p:cNvPr id="14" name="Text 11"/>
          <p:cNvSpPr txBox="1"/>
          <p:nvPr/>
        </p:nvSpPr>
        <p:spPr>
          <a:xfrm>
            <a:off x="3489960" y="146304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Limitation</a:t>
            </a:r>
            <a:endParaRPr lang="en-US" sz="1500" dirty="0"/>
          </a:p>
        </p:txBody>
      </p:sp>
      <p:sp>
        <p:nvSpPr>
          <p:cNvPr id="15" name="Text 12"/>
          <p:cNvSpPr txBox="1"/>
          <p:nvPr/>
        </p:nvSpPr>
        <p:spPr>
          <a:xfrm>
            <a:off x="3489960" y="1792224"/>
            <a:ext cx="2255520" cy="217627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The login is only for demonstration and is not secure. Anyone using the same browser can read or change the saved data.</a:t>
            </a:r>
            <a:endParaRPr lang="en-US" sz="1250" dirty="0"/>
          </a:p>
        </p:txBody>
      </p:sp>
      <p:sp>
        <p:nvSpPr>
          <p:cNvPr id="16" name="Shape 13"/>
          <p:cNvSpPr/>
          <p:nvPr/>
        </p:nvSpPr>
        <p:spPr>
          <a:xfrm>
            <a:off x="6065520" y="1371600"/>
            <a:ext cx="2529840" cy="2651760"/>
          </a:xfrm>
          <a:prstGeom prst="rect">
            <a:avLst/>
          </a:prstGeom>
          <a:solidFill>
            <a:srgbClr val="FFFFFF"/>
          </a:solidFill>
          <a:ln w="12700">
            <a:solidFill>
              <a:srgbClr val="E2E8F0"/>
            </a:solidFill>
            <a:prstDash val="solid"/>
          </a:ln>
        </p:spPr>
      </p:sp>
      <p:sp>
        <p:nvSpPr>
          <p:cNvPr id="17" name="Shape 14"/>
          <p:cNvSpPr/>
          <p:nvPr/>
        </p:nvSpPr>
        <p:spPr>
          <a:xfrm>
            <a:off x="6065520" y="1371600"/>
            <a:ext cx="64008" cy="2651760"/>
          </a:xfrm>
          <a:prstGeom prst="rect">
            <a:avLst/>
          </a:prstGeom>
          <a:solidFill>
            <a:srgbClr val="F59E0B"/>
          </a:solidFill>
          <a:ln w="12700">
            <a:solidFill>
              <a:srgbClr val="F59E0B"/>
            </a:solidFill>
            <a:prstDash val="solid"/>
          </a:ln>
        </p:spPr>
      </p:sp>
      <p:sp>
        <p:nvSpPr>
          <p:cNvPr id="18" name="Text 15"/>
          <p:cNvSpPr txBox="1"/>
          <p:nvPr/>
        </p:nvSpPr>
        <p:spPr>
          <a:xfrm>
            <a:off x="6248400" y="1463040"/>
            <a:ext cx="225552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What a real system needs</a:t>
            </a:r>
            <a:endParaRPr lang="en-US" sz="1500" dirty="0"/>
          </a:p>
        </p:txBody>
      </p:sp>
      <p:sp>
        <p:nvSpPr>
          <p:cNvPr id="19" name="Text 16"/>
          <p:cNvSpPr txBox="1"/>
          <p:nvPr/>
        </p:nvSpPr>
        <p:spPr>
          <a:xfrm>
            <a:off x="6248400" y="1792224"/>
            <a:ext cx="2255520" cy="217627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 backend server, a proper database, encrypted passwords, secure sessions and role checks done on the server.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B3C49"/>
          </a:solidFill>
          <a:ln w="12700">
            <a:solidFill>
              <a:srgbClr val="0B3C49"/>
            </a:solidFill>
            <a:prstDash val="solid"/>
          </a:ln>
        </p:spPr>
      </p:sp>
      <p:sp>
        <p:nvSpPr>
          <p:cNvPr id="3" name="Shape 1"/>
          <p:cNvSpPr/>
          <p:nvPr/>
        </p:nvSpPr>
        <p:spPr>
          <a:xfrm>
            <a:off x="0" y="914400"/>
            <a:ext cx="9144000" cy="54864"/>
          </a:xfrm>
          <a:prstGeom prst="rect">
            <a:avLst/>
          </a:prstGeom>
          <a:solidFill>
            <a:srgbClr val="14B8A6"/>
          </a:solidFill>
          <a:ln w="12700">
            <a:solidFill>
              <a:srgbClr val="14B8A6"/>
            </a:solidFill>
            <a:prstDash val="solid"/>
          </a:ln>
        </p:spPr>
      </p:sp>
      <p:sp>
        <p:nvSpPr>
          <p:cNvPr id="4" name="Shape 2"/>
          <p:cNvSpPr/>
          <p:nvPr/>
        </p:nvSpPr>
        <p:spPr>
          <a:xfrm>
            <a:off x="7863840" y="-457200"/>
            <a:ext cx="1463040" cy="1463040"/>
          </a:xfrm>
          <a:prstGeom prst="ellipse">
            <a:avLst/>
          </a:prstGeom>
          <a:solidFill>
            <a:srgbClr val="14B8A6">
              <a:alpha val="30000"/>
            </a:srgbClr>
          </a:solidFill>
          <a:ln w="12700">
            <a:solidFill>
              <a:srgbClr val="14B8A6">
                <a:alpha val="30000"/>
              </a:srgbClr>
            </a:solidFill>
            <a:prstDash val="solid"/>
          </a:ln>
        </p:spPr>
      </p:sp>
      <p:sp>
        <p:nvSpPr>
          <p:cNvPr id="5" name="Text 3"/>
          <p:cNvSpPr txBox="1"/>
          <p:nvPr/>
        </p:nvSpPr>
        <p:spPr>
          <a:xfrm>
            <a:off x="548640" y="0"/>
            <a:ext cx="73152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Future Scope</a:t>
            </a:r>
            <a:endParaRPr lang="en-US" sz="2800" dirty="0"/>
          </a:p>
        </p:txBody>
      </p:sp>
      <p:sp>
        <p:nvSpPr>
          <p:cNvPr id="6" name="Text 4"/>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17</a:t>
            </a:r>
            <a:endParaRPr lang="en-US" sz="1100" dirty="0"/>
          </a:p>
        </p:txBody>
      </p:sp>
      <p:sp>
        <p:nvSpPr>
          <p:cNvPr id="8" name="Shape 5"/>
          <p:cNvSpPr/>
          <p:nvPr/>
        </p:nvSpPr>
        <p:spPr>
          <a:xfrm>
            <a:off x="548640" y="1371600"/>
            <a:ext cx="2560320" cy="457200"/>
          </a:xfrm>
          <a:prstGeom prst="rect">
            <a:avLst/>
          </a:prstGeom>
          <a:solidFill>
            <a:srgbClr val="0E7C86"/>
          </a:solidFill>
          <a:ln w="12700">
            <a:solidFill>
              <a:srgbClr val="14B8A6"/>
            </a:solidFill>
            <a:prstDash val="solid"/>
          </a:ln>
        </p:spPr>
      </p:sp>
      <p:sp>
        <p:nvSpPr>
          <p:cNvPr id="9" name="Text 6"/>
          <p:cNvSpPr txBox="1"/>
          <p:nvPr/>
        </p:nvSpPr>
        <p:spPr>
          <a:xfrm>
            <a:off x="548640" y="1371600"/>
            <a:ext cx="256032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Step 1</a:t>
            </a:r>
            <a:endParaRPr lang="en-US" sz="1500" dirty="0"/>
          </a:p>
        </p:txBody>
      </p:sp>
      <p:sp>
        <p:nvSpPr>
          <p:cNvPr id="10" name="Shape 7"/>
          <p:cNvSpPr/>
          <p:nvPr/>
        </p:nvSpPr>
        <p:spPr>
          <a:xfrm>
            <a:off x="548640" y="1965960"/>
            <a:ext cx="2560320" cy="2011680"/>
          </a:xfrm>
          <a:prstGeom prst="rect">
            <a:avLst/>
          </a:prstGeom>
          <a:solidFill>
            <a:srgbClr val="FFFFFF"/>
          </a:solidFill>
          <a:ln w="12700">
            <a:solidFill>
              <a:srgbClr val="E2E8F0"/>
            </a:solidFill>
            <a:prstDash val="solid"/>
          </a:ln>
        </p:spPr>
      </p:sp>
      <p:sp>
        <p:nvSpPr>
          <p:cNvPr id="11" name="Shape 8"/>
          <p:cNvSpPr/>
          <p:nvPr/>
        </p:nvSpPr>
        <p:spPr>
          <a:xfrm>
            <a:off x="548640" y="1965960"/>
            <a:ext cx="64008" cy="2011680"/>
          </a:xfrm>
          <a:prstGeom prst="rect">
            <a:avLst/>
          </a:prstGeom>
          <a:solidFill>
            <a:srgbClr val="14B8A6"/>
          </a:solidFill>
          <a:ln w="12700">
            <a:solidFill>
              <a:srgbClr val="14B8A6"/>
            </a:solidFill>
            <a:prstDash val="solid"/>
          </a:ln>
        </p:spPr>
      </p:sp>
      <p:sp>
        <p:nvSpPr>
          <p:cNvPr id="12" name="Text 9"/>
          <p:cNvSpPr txBox="1"/>
          <p:nvPr/>
        </p:nvSpPr>
        <p:spPr>
          <a:xfrm>
            <a:off x="731520" y="2057400"/>
            <a:ext cx="228600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Backend and database</a:t>
            </a:r>
            <a:endParaRPr lang="en-US" sz="1500" dirty="0"/>
          </a:p>
        </p:txBody>
      </p:sp>
      <p:sp>
        <p:nvSpPr>
          <p:cNvPr id="13" name="Text 10"/>
          <p:cNvSpPr txBox="1"/>
          <p:nvPr/>
        </p:nvSpPr>
        <p:spPr>
          <a:xfrm>
            <a:off x="731520" y="2386584"/>
            <a:ext cx="2286000" cy="153619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Add a server with secure login so many users can work together.</a:t>
            </a:r>
            <a:endParaRPr lang="en-US" sz="1250" dirty="0"/>
          </a:p>
        </p:txBody>
      </p:sp>
      <p:sp>
        <p:nvSpPr>
          <p:cNvPr id="14" name="Shape 11"/>
          <p:cNvSpPr/>
          <p:nvPr/>
        </p:nvSpPr>
        <p:spPr>
          <a:xfrm>
            <a:off x="3291840" y="1371600"/>
            <a:ext cx="2560320" cy="457200"/>
          </a:xfrm>
          <a:prstGeom prst="rect">
            <a:avLst/>
          </a:prstGeom>
          <a:solidFill>
            <a:srgbClr val="10A3A0"/>
          </a:solidFill>
          <a:ln w="12700">
            <a:solidFill>
              <a:srgbClr val="14B8A6"/>
            </a:solidFill>
            <a:prstDash val="solid"/>
          </a:ln>
        </p:spPr>
      </p:sp>
      <p:sp>
        <p:nvSpPr>
          <p:cNvPr id="15" name="Text 12"/>
          <p:cNvSpPr txBox="1"/>
          <p:nvPr/>
        </p:nvSpPr>
        <p:spPr>
          <a:xfrm>
            <a:off x="3291840" y="1371600"/>
            <a:ext cx="256032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Step 2</a:t>
            </a:r>
            <a:endParaRPr lang="en-US" sz="1500" dirty="0"/>
          </a:p>
        </p:txBody>
      </p:sp>
      <p:sp>
        <p:nvSpPr>
          <p:cNvPr id="16" name="Shape 13"/>
          <p:cNvSpPr/>
          <p:nvPr/>
        </p:nvSpPr>
        <p:spPr>
          <a:xfrm>
            <a:off x="3291840" y="1965960"/>
            <a:ext cx="2560320" cy="2011680"/>
          </a:xfrm>
          <a:prstGeom prst="rect">
            <a:avLst/>
          </a:prstGeom>
          <a:solidFill>
            <a:srgbClr val="FFFFFF"/>
          </a:solidFill>
          <a:ln w="12700">
            <a:solidFill>
              <a:srgbClr val="E2E8F0"/>
            </a:solidFill>
            <a:prstDash val="solid"/>
          </a:ln>
        </p:spPr>
      </p:sp>
      <p:sp>
        <p:nvSpPr>
          <p:cNvPr id="17" name="Shape 14"/>
          <p:cNvSpPr/>
          <p:nvPr/>
        </p:nvSpPr>
        <p:spPr>
          <a:xfrm>
            <a:off x="3291840" y="1965960"/>
            <a:ext cx="64008" cy="2011680"/>
          </a:xfrm>
          <a:prstGeom prst="rect">
            <a:avLst/>
          </a:prstGeom>
          <a:solidFill>
            <a:srgbClr val="14B8A6"/>
          </a:solidFill>
          <a:ln w="12700">
            <a:solidFill>
              <a:srgbClr val="14B8A6"/>
            </a:solidFill>
            <a:prstDash val="solid"/>
          </a:ln>
        </p:spPr>
      </p:sp>
      <p:sp>
        <p:nvSpPr>
          <p:cNvPr id="18" name="Text 15"/>
          <p:cNvSpPr txBox="1"/>
          <p:nvPr/>
        </p:nvSpPr>
        <p:spPr>
          <a:xfrm>
            <a:off x="3474720" y="2057400"/>
            <a:ext cx="228600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Smart reminders</a:t>
            </a:r>
            <a:endParaRPr lang="en-US" sz="1500" dirty="0"/>
          </a:p>
        </p:txBody>
      </p:sp>
      <p:sp>
        <p:nvSpPr>
          <p:cNvPr id="19" name="Text 16"/>
          <p:cNvSpPr txBox="1"/>
          <p:nvPr/>
        </p:nvSpPr>
        <p:spPr>
          <a:xfrm>
            <a:off x="3474720" y="2386584"/>
            <a:ext cx="2286000" cy="153619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Send email and SMS alerts for appointments and follow-ups.</a:t>
            </a:r>
            <a:endParaRPr lang="en-US" sz="1250" dirty="0"/>
          </a:p>
        </p:txBody>
      </p:sp>
      <p:sp>
        <p:nvSpPr>
          <p:cNvPr id="20" name="Shape 17"/>
          <p:cNvSpPr/>
          <p:nvPr/>
        </p:nvSpPr>
        <p:spPr>
          <a:xfrm>
            <a:off x="6035040" y="1371600"/>
            <a:ext cx="2560320" cy="457200"/>
          </a:xfrm>
          <a:prstGeom prst="rect">
            <a:avLst/>
          </a:prstGeom>
          <a:solidFill>
            <a:srgbClr val="14B8A6"/>
          </a:solidFill>
          <a:ln w="12700">
            <a:solidFill>
              <a:srgbClr val="14B8A6"/>
            </a:solidFill>
            <a:prstDash val="solid"/>
          </a:ln>
        </p:spPr>
      </p:sp>
      <p:sp>
        <p:nvSpPr>
          <p:cNvPr id="21" name="Text 18"/>
          <p:cNvSpPr txBox="1"/>
          <p:nvPr/>
        </p:nvSpPr>
        <p:spPr>
          <a:xfrm>
            <a:off x="6035040" y="1371600"/>
            <a:ext cx="256032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Step 3</a:t>
            </a:r>
            <a:endParaRPr lang="en-US" sz="1500" dirty="0"/>
          </a:p>
        </p:txBody>
      </p:sp>
      <p:sp>
        <p:nvSpPr>
          <p:cNvPr id="22" name="Shape 19"/>
          <p:cNvSpPr/>
          <p:nvPr/>
        </p:nvSpPr>
        <p:spPr>
          <a:xfrm>
            <a:off x="6035040" y="1965960"/>
            <a:ext cx="2560320" cy="2011680"/>
          </a:xfrm>
          <a:prstGeom prst="rect">
            <a:avLst/>
          </a:prstGeom>
          <a:solidFill>
            <a:srgbClr val="FFFFFF"/>
          </a:solidFill>
          <a:ln w="12700">
            <a:solidFill>
              <a:srgbClr val="E2E8F0"/>
            </a:solidFill>
            <a:prstDash val="solid"/>
          </a:ln>
        </p:spPr>
      </p:sp>
      <p:sp>
        <p:nvSpPr>
          <p:cNvPr id="23" name="Shape 20"/>
          <p:cNvSpPr/>
          <p:nvPr/>
        </p:nvSpPr>
        <p:spPr>
          <a:xfrm>
            <a:off x="6035040" y="1965960"/>
            <a:ext cx="64008" cy="2011680"/>
          </a:xfrm>
          <a:prstGeom prst="rect">
            <a:avLst/>
          </a:prstGeom>
          <a:solidFill>
            <a:srgbClr val="14B8A6"/>
          </a:solidFill>
          <a:ln w="12700">
            <a:solidFill>
              <a:srgbClr val="14B8A6"/>
            </a:solidFill>
            <a:prstDash val="solid"/>
          </a:ln>
        </p:spPr>
      </p:sp>
      <p:sp>
        <p:nvSpPr>
          <p:cNvPr id="24" name="Text 21"/>
          <p:cNvSpPr txBox="1"/>
          <p:nvPr/>
        </p:nvSpPr>
        <p:spPr>
          <a:xfrm>
            <a:off x="6217920" y="2057400"/>
            <a:ext cx="2286000" cy="292608"/>
          </a:xfrm>
          <a:prstGeom prst="rect">
            <a:avLst/>
          </a:prstGeom>
          <a:noFill/>
          <a:ln/>
        </p:spPr>
        <p:txBody>
          <a:bodyPr wrap="square" lIns="0" tIns="0" rIns="0" bIns="0" rtlCol="0" anchor="ctr"/>
          <a:lstStyle/>
          <a:p>
            <a:pPr marL="0" indent="0">
              <a:buNone/>
            </a:pPr>
            <a:r>
              <a:rPr lang="en-US" sz="1500" b="1" dirty="0">
                <a:solidFill>
                  <a:srgbClr val="0E7C86"/>
                </a:solidFill>
                <a:latin typeface="Calibri" pitchFamily="34" charset="0"/>
                <a:ea typeface="Calibri" pitchFamily="34" charset="-122"/>
                <a:cs typeface="Calibri" pitchFamily="34" charset="-120"/>
              </a:rPr>
              <a:t>Data and mobile</a:t>
            </a:r>
            <a:endParaRPr lang="en-US" sz="1500" dirty="0"/>
          </a:p>
        </p:txBody>
      </p:sp>
      <p:sp>
        <p:nvSpPr>
          <p:cNvPr id="25" name="Text 22"/>
          <p:cNvSpPr txBox="1"/>
          <p:nvPr/>
        </p:nvSpPr>
        <p:spPr>
          <a:xfrm>
            <a:off x="6217920" y="2386584"/>
            <a:ext cx="2286000" cy="1536192"/>
          </a:xfrm>
          <a:prstGeom prst="rect">
            <a:avLst/>
          </a:prstGeom>
          <a:noFill/>
          <a:ln/>
        </p:spPr>
        <p:txBody>
          <a:bodyPr wrap="square" lIns="0" tIns="0" rIns="0" bIns="0" rtlCol="0" anchor="t"/>
          <a:lstStyle/>
          <a:p>
            <a:pPr marL="0" indent="0">
              <a:buNone/>
            </a:pPr>
            <a:r>
              <a:rPr lang="en-US" sz="1250" dirty="0">
                <a:solidFill>
                  <a:srgbClr val="1B2A41"/>
                </a:solidFill>
                <a:latin typeface="Calibri" pitchFamily="34" charset="0"/>
                <a:ea typeface="Calibri" pitchFamily="34" charset="-122"/>
                <a:cs typeface="Calibri" pitchFamily="34" charset="-120"/>
              </a:rPr>
              <a:t>Connect wearable data and build a mobile app for athletes.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3C49"/>
        </a:solidFill>
        <a:effectLst/>
      </p:bgPr>
    </p:bg>
    <p:spTree>
      <p:nvGrpSpPr>
        <p:cNvPr id="1" name=""/>
        <p:cNvGrpSpPr/>
        <p:nvPr/>
      </p:nvGrpSpPr>
      <p:grpSpPr>
        <a:xfrm>
          <a:off x="0" y="0"/>
          <a:ext cx="0" cy="0"/>
          <a:chOff x="0" y="0"/>
          <a:chExt cx="0" cy="0"/>
        </a:xfrm>
      </p:grpSpPr>
      <p:sp>
        <p:nvSpPr>
          <p:cNvPr id="2" name="Shape 0"/>
          <p:cNvSpPr/>
          <p:nvPr/>
        </p:nvSpPr>
        <p:spPr>
          <a:xfrm>
            <a:off x="7498080" y="-914400"/>
            <a:ext cx="2743200" cy="2743200"/>
          </a:xfrm>
          <a:prstGeom prst="ellipse">
            <a:avLst/>
          </a:prstGeom>
          <a:solidFill>
            <a:srgbClr val="14B8A6">
              <a:alpha val="20000"/>
            </a:srgbClr>
          </a:solidFill>
          <a:ln w="12700">
            <a:solidFill>
              <a:srgbClr val="14B8A6">
                <a:alpha val="20000"/>
              </a:srgbClr>
            </a:solidFill>
            <a:prstDash val="solid"/>
          </a:ln>
        </p:spPr>
      </p:sp>
      <p:sp>
        <p:nvSpPr>
          <p:cNvPr id="3" name="Shape 1"/>
          <p:cNvSpPr/>
          <p:nvPr/>
        </p:nvSpPr>
        <p:spPr>
          <a:xfrm>
            <a:off x="-1097280" y="3931920"/>
            <a:ext cx="2377440" cy="2377440"/>
          </a:xfrm>
          <a:prstGeom prst="ellipse">
            <a:avLst/>
          </a:prstGeom>
          <a:solidFill>
            <a:srgbClr val="14B8A6">
              <a:alpha val="15000"/>
            </a:srgbClr>
          </a:solidFill>
          <a:ln w="12700">
            <a:solidFill>
              <a:srgbClr val="14B8A6">
                <a:alpha val="15000"/>
              </a:srgbClr>
            </a:solidFill>
            <a:prstDash val="solid"/>
          </a:ln>
        </p:spPr>
      </p:sp>
      <p:sp>
        <p:nvSpPr>
          <p:cNvPr id="4" name="Text 2"/>
          <p:cNvSpPr txBox="1"/>
          <p:nvPr/>
        </p:nvSpPr>
        <p:spPr>
          <a:xfrm>
            <a:off x="548640" y="365760"/>
            <a:ext cx="7315200" cy="7315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5" name="Shape 3"/>
          <p:cNvSpPr/>
          <p:nvPr/>
        </p:nvSpPr>
        <p:spPr>
          <a:xfrm>
            <a:off x="548640" y="1280160"/>
            <a:ext cx="2560320" cy="2377440"/>
          </a:xfrm>
          <a:prstGeom prst="rect">
            <a:avLst/>
          </a:prstGeom>
          <a:solidFill>
            <a:srgbClr val="12505C"/>
          </a:solidFill>
          <a:ln w="12700">
            <a:solidFill>
              <a:srgbClr val="1E6E7C"/>
            </a:solidFill>
            <a:prstDash val="solid"/>
          </a:ln>
        </p:spPr>
      </p:sp>
      <p:sp>
        <p:nvSpPr>
          <p:cNvPr id="6" name="Shape 4"/>
          <p:cNvSpPr/>
          <p:nvPr/>
        </p:nvSpPr>
        <p:spPr>
          <a:xfrm>
            <a:off x="548640" y="1280160"/>
            <a:ext cx="2560320" cy="64008"/>
          </a:xfrm>
          <a:prstGeom prst="rect">
            <a:avLst/>
          </a:prstGeom>
          <a:solidFill>
            <a:srgbClr val="14B8A6"/>
          </a:solidFill>
          <a:ln w="12700">
            <a:solidFill>
              <a:srgbClr val="14B8A6"/>
            </a:solidFill>
            <a:prstDash val="solid"/>
          </a:ln>
        </p:spPr>
      </p:sp>
      <p:sp>
        <p:nvSpPr>
          <p:cNvPr id="7" name="Text 5"/>
          <p:cNvSpPr txBox="1"/>
          <p:nvPr/>
        </p:nvSpPr>
        <p:spPr>
          <a:xfrm>
            <a:off x="731520" y="1463040"/>
            <a:ext cx="2194560" cy="2103120"/>
          </a:xfrm>
          <a:prstGeom prst="rect">
            <a:avLst/>
          </a:prstGeom>
          <a:noFill/>
          <a:ln/>
        </p:spPr>
        <p:txBody>
          <a:bodyPr wrap="square" lIns="0" tIns="0" rIns="0" bIns="0" rtlCol="0" anchor="t"/>
          <a:lstStyle/>
          <a:p>
            <a:pPr marL="0" indent="0">
              <a:spcAft>
                <a:spcPts val="800"/>
              </a:spcAft>
              <a:buNone/>
            </a:pPr>
            <a:r>
              <a:rPr lang="en-US" sz="1600" b="1" dirty="0">
                <a:solidFill>
                  <a:srgbClr val="14B8A6"/>
                </a:solidFill>
                <a:latin typeface="Calibri" pitchFamily="34" charset="0"/>
                <a:ea typeface="Calibri" pitchFamily="34" charset="-122"/>
                <a:cs typeface="Calibri" pitchFamily="34" charset="-120"/>
              </a:rPr>
              <a:t>What we built</a:t>
            </a:r>
            <a:endParaRPr lang="en-US" sz="1600" dirty="0"/>
          </a:p>
          <a:p>
            <a:pPr marL="0" indent="0">
              <a:spcAft>
                <a:spcPts val="800"/>
              </a:spcAft>
              <a:buNone/>
            </a:pPr>
            <a:r>
              <a:rPr lang="en-US" sz="1300" dirty="0">
                <a:solidFill>
                  <a:srgbClr val="E2F3F5"/>
                </a:solidFill>
                <a:latin typeface="Calibri" pitchFamily="34" charset="0"/>
                <a:ea typeface="Calibri" pitchFamily="34" charset="-122"/>
                <a:cs typeface="Calibri" pitchFamily="34" charset="-120"/>
              </a:rPr>
              <a:t>A complete web portal with nine modules covering injuries, rehabilitation, treatment, appointments and reports.</a:t>
            </a:r>
            <a:endParaRPr lang="en-US" sz="1600" dirty="0"/>
          </a:p>
        </p:txBody>
      </p:sp>
      <p:sp>
        <p:nvSpPr>
          <p:cNvPr id="8" name="Shape 6"/>
          <p:cNvSpPr/>
          <p:nvPr/>
        </p:nvSpPr>
        <p:spPr>
          <a:xfrm>
            <a:off x="3291840" y="1280160"/>
            <a:ext cx="2560320" cy="2377440"/>
          </a:xfrm>
          <a:prstGeom prst="rect">
            <a:avLst/>
          </a:prstGeom>
          <a:solidFill>
            <a:srgbClr val="12505C"/>
          </a:solidFill>
          <a:ln w="12700">
            <a:solidFill>
              <a:srgbClr val="1E6E7C"/>
            </a:solidFill>
            <a:prstDash val="solid"/>
          </a:ln>
        </p:spPr>
      </p:sp>
      <p:sp>
        <p:nvSpPr>
          <p:cNvPr id="9" name="Shape 7"/>
          <p:cNvSpPr/>
          <p:nvPr/>
        </p:nvSpPr>
        <p:spPr>
          <a:xfrm>
            <a:off x="3291840" y="1280160"/>
            <a:ext cx="2560320" cy="64008"/>
          </a:xfrm>
          <a:prstGeom prst="rect">
            <a:avLst/>
          </a:prstGeom>
          <a:solidFill>
            <a:srgbClr val="14B8A6"/>
          </a:solidFill>
          <a:ln w="12700">
            <a:solidFill>
              <a:srgbClr val="14B8A6"/>
            </a:solidFill>
            <a:prstDash val="solid"/>
          </a:ln>
        </p:spPr>
      </p:sp>
      <p:sp>
        <p:nvSpPr>
          <p:cNvPr id="10" name="Text 8"/>
          <p:cNvSpPr txBox="1"/>
          <p:nvPr/>
        </p:nvSpPr>
        <p:spPr>
          <a:xfrm>
            <a:off x="3474720" y="1463040"/>
            <a:ext cx="2194560" cy="2103120"/>
          </a:xfrm>
          <a:prstGeom prst="rect">
            <a:avLst/>
          </a:prstGeom>
          <a:noFill/>
          <a:ln/>
        </p:spPr>
        <p:txBody>
          <a:bodyPr wrap="square" lIns="0" tIns="0" rIns="0" bIns="0" rtlCol="0" anchor="t"/>
          <a:lstStyle/>
          <a:p>
            <a:pPr marL="0" indent="0">
              <a:spcAft>
                <a:spcPts val="800"/>
              </a:spcAft>
              <a:buNone/>
            </a:pPr>
            <a:r>
              <a:rPr lang="en-US" sz="1600" b="1" dirty="0">
                <a:solidFill>
                  <a:srgbClr val="14B8A6"/>
                </a:solidFill>
                <a:latin typeface="Calibri" pitchFamily="34" charset="0"/>
                <a:ea typeface="Calibri" pitchFamily="34" charset="-122"/>
                <a:cs typeface="Calibri" pitchFamily="34" charset="-120"/>
              </a:rPr>
              <a:t>What it achieves</a:t>
            </a:r>
            <a:endParaRPr lang="en-US" sz="1600" dirty="0"/>
          </a:p>
          <a:p>
            <a:pPr marL="0" indent="0">
              <a:spcAft>
                <a:spcPts val="800"/>
              </a:spcAft>
              <a:buNone/>
            </a:pPr>
            <a:r>
              <a:rPr lang="en-US" sz="1300" dirty="0">
                <a:solidFill>
                  <a:srgbClr val="E2F3F5"/>
                </a:solidFill>
                <a:latin typeface="Calibri" pitchFamily="34" charset="0"/>
                <a:ea typeface="Calibri" pitchFamily="34" charset="-122"/>
                <a:cs typeface="Calibri" pitchFamily="34" charset="-120"/>
              </a:rPr>
              <a:t>Records stay organised, rehab progress is easy to see, and return to play follows a clear checklist.</a:t>
            </a:r>
            <a:endParaRPr lang="en-US" sz="1600" dirty="0"/>
          </a:p>
        </p:txBody>
      </p:sp>
      <p:sp>
        <p:nvSpPr>
          <p:cNvPr id="11" name="Shape 9"/>
          <p:cNvSpPr/>
          <p:nvPr/>
        </p:nvSpPr>
        <p:spPr>
          <a:xfrm>
            <a:off x="6035040" y="1280160"/>
            <a:ext cx="2560320" cy="2377440"/>
          </a:xfrm>
          <a:prstGeom prst="rect">
            <a:avLst/>
          </a:prstGeom>
          <a:solidFill>
            <a:srgbClr val="12505C"/>
          </a:solidFill>
          <a:ln w="12700">
            <a:solidFill>
              <a:srgbClr val="1E6E7C"/>
            </a:solidFill>
            <a:prstDash val="solid"/>
          </a:ln>
        </p:spPr>
      </p:sp>
      <p:sp>
        <p:nvSpPr>
          <p:cNvPr id="12" name="Shape 10"/>
          <p:cNvSpPr/>
          <p:nvPr/>
        </p:nvSpPr>
        <p:spPr>
          <a:xfrm>
            <a:off x="6035040" y="1280160"/>
            <a:ext cx="2560320" cy="64008"/>
          </a:xfrm>
          <a:prstGeom prst="rect">
            <a:avLst/>
          </a:prstGeom>
          <a:solidFill>
            <a:srgbClr val="14B8A6"/>
          </a:solidFill>
          <a:ln w="12700">
            <a:solidFill>
              <a:srgbClr val="14B8A6"/>
            </a:solidFill>
            <a:prstDash val="solid"/>
          </a:ln>
        </p:spPr>
      </p:sp>
      <p:sp>
        <p:nvSpPr>
          <p:cNvPr id="13" name="Text 11"/>
          <p:cNvSpPr txBox="1"/>
          <p:nvPr/>
        </p:nvSpPr>
        <p:spPr>
          <a:xfrm>
            <a:off x="6217920" y="1463040"/>
            <a:ext cx="2194560" cy="2103120"/>
          </a:xfrm>
          <a:prstGeom prst="rect">
            <a:avLst/>
          </a:prstGeom>
          <a:noFill/>
          <a:ln/>
        </p:spPr>
        <p:txBody>
          <a:bodyPr wrap="square" lIns="0" tIns="0" rIns="0" bIns="0" rtlCol="0" anchor="t"/>
          <a:lstStyle/>
          <a:p>
            <a:pPr marL="0" indent="0">
              <a:spcAft>
                <a:spcPts val="800"/>
              </a:spcAft>
              <a:buNone/>
            </a:pPr>
            <a:r>
              <a:rPr lang="en-US" sz="1600" b="1" dirty="0">
                <a:solidFill>
                  <a:srgbClr val="14B8A6"/>
                </a:solidFill>
                <a:latin typeface="Calibri" pitchFamily="34" charset="0"/>
                <a:ea typeface="Calibri" pitchFamily="34" charset="-122"/>
                <a:cs typeface="Calibri" pitchFamily="34" charset="-120"/>
              </a:rPr>
              <a:t>What we learned</a:t>
            </a:r>
            <a:endParaRPr lang="en-US" sz="1600" dirty="0"/>
          </a:p>
          <a:p>
            <a:pPr marL="0" indent="0">
              <a:spcAft>
                <a:spcPts val="800"/>
              </a:spcAft>
              <a:buNone/>
            </a:pPr>
            <a:r>
              <a:rPr lang="en-US" sz="1300" dirty="0">
                <a:solidFill>
                  <a:srgbClr val="E2F3F5"/>
                </a:solidFill>
                <a:latin typeface="Calibri" pitchFamily="34" charset="0"/>
                <a:ea typeface="Calibri" pitchFamily="34" charset="-122"/>
                <a:cs typeface="Calibri" pitchFamily="34" charset="-120"/>
              </a:rPr>
              <a:t>Planning a project, building forms and dashboards, handling user roles and thinking about safety.</a:t>
            </a:r>
            <a:endParaRPr lang="en-US" sz="1600" dirty="0"/>
          </a:p>
        </p:txBody>
      </p:sp>
      <p:sp>
        <p:nvSpPr>
          <p:cNvPr id="14" name="Text 12"/>
          <p:cNvSpPr txBox="1"/>
          <p:nvPr/>
        </p:nvSpPr>
        <p:spPr>
          <a:xfrm>
            <a:off x="548640" y="3886200"/>
            <a:ext cx="8046720" cy="73152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SportsCare shows that a simple, well-organised system can make injury recovery safer for student athletes.</a:t>
            </a:r>
            <a:endParaRPr lang="en-US" sz="1600" dirty="0"/>
          </a:p>
        </p:txBody>
      </p:sp>
      <p:sp>
        <p:nvSpPr>
          <p:cNvPr id="15" name="Text 13"/>
          <p:cNvSpPr txBox="1"/>
          <p:nvPr/>
        </p:nvSpPr>
        <p:spPr>
          <a:xfrm>
            <a:off x="8229600" y="4754880"/>
            <a:ext cx="548640" cy="274320"/>
          </a:xfrm>
          <a:prstGeom prst="rect">
            <a:avLst/>
          </a:prstGeom>
          <a:noFill/>
          <a:ln/>
        </p:spPr>
        <p:txBody>
          <a:bodyPr wrap="square" lIns="0" tIns="0" rIns="0" bIns="0" rtlCol="0" anchor="ctr"/>
          <a:lstStyle/>
          <a:p>
            <a:pPr marL="0" indent="0" algn="r">
              <a:buNone/>
            </a:pPr>
            <a:r>
              <a:rPr lang="en-US" sz="1100" dirty="0">
                <a:solidFill>
                  <a:srgbClr val="9CC7CD"/>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3C49"/>
        </a:solidFill>
        <a:effectLst/>
      </p:bgPr>
    </p:bg>
    <p:spTree>
      <p:nvGrpSpPr>
        <p:cNvPr id="1" name=""/>
        <p:cNvGrpSpPr/>
        <p:nvPr/>
      </p:nvGrpSpPr>
      <p:grpSpPr>
        <a:xfrm>
          <a:off x="0" y="0"/>
          <a:ext cx="0" cy="0"/>
          <a:chOff x="0" y="0"/>
          <a:chExt cx="0" cy="0"/>
        </a:xfrm>
      </p:grpSpPr>
      <p:sp>
        <p:nvSpPr>
          <p:cNvPr id="2" name="Shape 0"/>
          <p:cNvSpPr/>
          <p:nvPr/>
        </p:nvSpPr>
        <p:spPr>
          <a:xfrm>
            <a:off x="6400800" y="-1097280"/>
            <a:ext cx="4023360" cy="4023360"/>
          </a:xfrm>
          <a:prstGeom prst="ellipse">
            <a:avLst/>
          </a:prstGeom>
          <a:solidFill>
            <a:srgbClr val="14B8A6">
              <a:alpha val="20000"/>
            </a:srgbClr>
          </a:solidFill>
          <a:ln w="12700">
            <a:solidFill>
              <a:srgbClr val="14B8A6">
                <a:alpha val="20000"/>
              </a:srgbClr>
            </a:solidFill>
            <a:prstDash val="solid"/>
          </a:ln>
        </p:spPr>
      </p:sp>
      <p:sp>
        <p:nvSpPr>
          <p:cNvPr id="3" name="Shape 1"/>
          <p:cNvSpPr/>
          <p:nvPr/>
        </p:nvSpPr>
        <p:spPr>
          <a:xfrm>
            <a:off x="-1097280" y="3291840"/>
            <a:ext cx="3291840" cy="3291840"/>
          </a:xfrm>
          <a:prstGeom prst="ellipse">
            <a:avLst/>
          </a:prstGeom>
          <a:solidFill>
            <a:srgbClr val="0E7C86">
              <a:alpha val="50000"/>
            </a:srgbClr>
          </a:solidFill>
          <a:ln w="12700">
            <a:solidFill>
              <a:srgbClr val="0E7C86">
                <a:alpha val="50000"/>
              </a:srgbClr>
            </a:solidFill>
            <a:prstDash val="solid"/>
          </a:ln>
        </p:spPr>
      </p:sp>
      <p:sp>
        <p:nvSpPr>
          <p:cNvPr id="4" name="Text 2"/>
          <p:cNvSpPr txBox="1"/>
          <p:nvPr/>
        </p:nvSpPr>
        <p:spPr>
          <a:xfrm>
            <a:off x="457200" y="1737360"/>
            <a:ext cx="8229600" cy="146304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5" name="Shape 3"/>
          <p:cNvSpPr/>
          <p:nvPr/>
        </p:nvSpPr>
        <p:spPr>
          <a:xfrm>
            <a:off x="4023360" y="3291840"/>
            <a:ext cx="1097280" cy="73152"/>
          </a:xfrm>
          <a:prstGeom prst="rect">
            <a:avLst/>
          </a:prstGeom>
          <a:solidFill>
            <a:srgbClr val="14B8A6"/>
          </a:solidFill>
          <a:ln w="12700">
            <a:solidFill>
              <a:srgbClr val="14B8A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1220</Words>
  <Application>Microsoft Office PowerPoint</Application>
  <PresentationFormat>On-screen Show (16:9)</PresentationFormat>
  <Paragraphs>240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Sports Injury, Rehabilitation &amp; Return-to-Play Management System</dc:title>
  <dc:subject>PptxGenJS Presentation</dc:subject>
  <dc:creator>PptxGenJS</dc:creator>
  <cp:lastModifiedBy>Maha A</cp:lastModifiedBy>
  <cp:revision>4</cp:revision>
  <dcterms:created xsi:type="dcterms:W3CDTF">2026-10-11T14:40:49Z</dcterms:created>
  <dcterms:modified xsi:type="dcterms:W3CDTF">2026-10-11T18:34:49Z</dcterms:modified>
</cp:coreProperties>
</file>